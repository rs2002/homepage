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488" r:id="rId3"/>
    <p:sldId id="522" r:id="rId5"/>
    <p:sldId id="582" r:id="rId6"/>
    <p:sldId id="579" r:id="rId7"/>
    <p:sldId id="581" r:id="rId8"/>
    <p:sldId id="558" r:id="rId9"/>
    <p:sldId id="516" r:id="rId10"/>
    <p:sldId id="576" r:id="rId11"/>
    <p:sldId id="571" r:id="rId12"/>
    <p:sldId id="580" r:id="rId13"/>
  </p:sldIdLst>
  <p:sldSz cx="9144000" cy="5143500" type="screen16x9"/>
  <p:notesSz cx="6858000" cy="9144000"/>
  <p:custDataLst>
    <p:tags r:id="rId18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 userDrawn="1">
          <p15:clr>
            <a:srgbClr val="A4A3A4"/>
          </p15:clr>
        </p15:guide>
        <p15:guide id="2" pos="3803" userDrawn="1">
          <p15:clr>
            <a:srgbClr val="A4A3A4"/>
          </p15:clr>
        </p15:guide>
        <p15:guide id="3" orient="horz" pos="1909" userDrawn="1">
          <p15:clr>
            <a:srgbClr val="A4A3A4"/>
          </p15:clr>
        </p15:guide>
        <p15:guide id="4" orient="horz" pos="1050" userDrawn="1">
          <p15:clr>
            <a:srgbClr val="A4A3A4"/>
          </p15:clr>
        </p15:guide>
        <p15:guide id="5" orient="horz" pos="715" userDrawn="1">
          <p15:clr>
            <a:srgbClr val="A4A3A4"/>
          </p15:clr>
        </p15:guide>
        <p15:guide id="6" pos="3079" userDrawn="1">
          <p15:clr>
            <a:srgbClr val="A4A3A4"/>
          </p15:clr>
        </p15:guide>
        <p15:guide id="7" pos="375" userDrawn="1">
          <p15:clr>
            <a:srgbClr val="A4A3A4"/>
          </p15:clr>
        </p15:guide>
        <p15:guide id="8" pos="5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F39"/>
    <a:srgbClr val="2F5597"/>
    <a:srgbClr val="51793B"/>
    <a:srgbClr val="D6D8E0"/>
    <a:srgbClr val="698CF5"/>
    <a:srgbClr val="93CB94"/>
    <a:srgbClr val="84B770"/>
    <a:srgbClr val="84B76F"/>
    <a:srgbClr val="A4A3A4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92" autoAdjust="0"/>
    <p:restoredTop sz="80750" autoAdjust="0"/>
  </p:normalViewPr>
  <p:slideViewPr>
    <p:cSldViewPr snapToGrid="0" snapToObjects="1" showGuides="1">
      <p:cViewPr varScale="1">
        <p:scale>
          <a:sx n="135" d="100"/>
          <a:sy n="135" d="100"/>
        </p:scale>
        <p:origin x="941" y="91"/>
      </p:cViewPr>
      <p:guideLst>
        <p:guide orient="horz" pos="2544"/>
        <p:guide pos="3803"/>
        <p:guide orient="horz" pos="1909"/>
        <p:guide orient="horz" pos="1050"/>
        <p:guide orient="horz" pos="715"/>
        <p:guide pos="3079"/>
        <p:guide pos="375"/>
        <p:guide pos="54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pull/>
  </p:transition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-635" y="1042035"/>
            <a:ext cx="9145270" cy="90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lt"/>
                <a:cs typeface="Calibri" panose="020F0502020204030204" pitchFamily="34" charset="0"/>
              </a:rPr>
              <a:t>LoFi: Vision-Aided Label Generator for </a:t>
            </a:r>
            <a:endParaRPr lang="en-US" altLang="zh-CN" sz="2400" b="1" dirty="0">
              <a:solidFill>
                <a:srgbClr val="002060"/>
              </a:solidFill>
              <a:latin typeface="+mn-lt"/>
              <a:cs typeface="Calibri" panose="020F0502020204030204" pitchFamily="34" charset="0"/>
            </a:endParaRPr>
          </a:p>
          <a:p>
            <a:pPr algn="ctr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rgbClr val="002060"/>
                </a:solidFill>
                <a:latin typeface="+mn-lt"/>
                <a:cs typeface="Calibri" panose="020F0502020204030204" pitchFamily="34" charset="0"/>
              </a:rPr>
              <a:t>Wi-Fi Localization and Tracking</a:t>
            </a:r>
            <a:endParaRPr lang="en-US" altLang="zh-CN" sz="2400" b="1" dirty="0">
              <a:solidFill>
                <a:srgbClr val="002060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4" name="矩形 46"/>
          <p:cNvSpPr>
            <a:spLocks noChangeArrowheads="1"/>
          </p:cNvSpPr>
          <p:nvPr/>
        </p:nvSpPr>
        <p:spPr bwMode="auto">
          <a:xfrm>
            <a:off x="-1270" y="2007235"/>
            <a:ext cx="9145270" cy="85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600"/>
              </a:spcBef>
              <a:buNone/>
            </a:pPr>
            <a:endParaRPr lang="en-US" altLang="zh-CN" sz="1600" b="1" dirty="0" smtClean="0">
              <a:latin typeface="+mn-lt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600"/>
              </a:spcBef>
              <a:buNone/>
            </a:pP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Zijian Zhao, 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  <a:sym typeface="+mn-ea"/>
              </a:rPr>
              <a:t>Tingwei Chen, Fanyi Meng, 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Zhijie Cai, Hang Li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  <a:sym typeface="+mn-ea"/>
              </a:rPr>
              <a:t>, Xiaoyang Li</a:t>
            </a: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, Guangxu Zhu*</a:t>
            </a:r>
            <a:endParaRPr lang="zh-CN" altLang="en-US" sz="18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46"/>
          <p:cNvSpPr>
            <a:spLocks noChangeArrowheads="1"/>
          </p:cNvSpPr>
          <p:nvPr/>
        </p:nvSpPr>
        <p:spPr bwMode="auto">
          <a:xfrm>
            <a:off x="-1270" y="4838065"/>
            <a:ext cx="9145270" cy="305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ts val="600"/>
              </a:spcBef>
              <a:buNone/>
            </a:pPr>
            <a:r>
              <a:rPr lang="en-US" altLang="zh-CN" sz="1400" dirty="0" smtClean="0">
                <a:latin typeface="+mn-lt"/>
                <a:cs typeface="Calibri" panose="020F0502020204030204" pitchFamily="34" charset="0"/>
              </a:rPr>
              <a:t>Presentation at IEEE GLOBECOM Workshop, December 11, 2025</a:t>
            </a:r>
            <a:endParaRPr lang="zh-CN" altLang="en-US" sz="1800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0" y="1921510"/>
            <a:ext cx="9145270" cy="0"/>
          </a:xfrm>
          <a:prstGeom prst="line">
            <a:avLst/>
          </a:prstGeom>
          <a:ln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1"/>
          <a:srcRect l="15933" r="16315" b="22457"/>
          <a:stretch>
            <a:fillRect/>
          </a:stretch>
        </p:blipFill>
        <p:spPr>
          <a:xfrm>
            <a:off x="5647690" y="2922905"/>
            <a:ext cx="1668145" cy="945515"/>
          </a:xfrm>
          <a:prstGeom prst="rect">
            <a:avLst/>
          </a:prstGeom>
        </p:spPr>
      </p:pic>
      <p:pic>
        <p:nvPicPr>
          <p:cNvPr id="110" name="Image" descr="Image"/>
          <p:cNvPicPr>
            <a:picLocks noChangeAspect="1"/>
          </p:cNvPicPr>
          <p:nvPr userDrawn="1"/>
        </p:nvPicPr>
        <p:blipFill>
          <a:blip r:embed="rId2"/>
          <a:srcRect r="79713"/>
          <a:stretch>
            <a:fillRect/>
          </a:stretch>
        </p:blipFill>
        <p:spPr>
          <a:xfrm>
            <a:off x="2432685" y="2908300"/>
            <a:ext cx="989330" cy="9601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图片 5" descr="SYSU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7815" y="2921000"/>
            <a:ext cx="944245" cy="944245"/>
          </a:xfrm>
          <a:prstGeom prst="rect">
            <a:avLst/>
          </a:prstGeom>
        </p:spPr>
      </p:pic>
      <p:sp>
        <p:nvSpPr>
          <p:cNvPr id="34" name="Shenzhen Research Institute of Big Data…"/>
          <p:cNvSpPr txBox="1"/>
          <p:nvPr userDrawn="1"/>
        </p:nvSpPr>
        <p:spPr>
          <a:xfrm>
            <a:off x="2146300" y="3942080"/>
            <a:ext cx="1562100" cy="50736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sz="1000" dirty="0"/>
              <a:t>Shenzhen Research Institute of Big Data</a:t>
            </a:r>
            <a:r>
              <a:rPr lang="en-US" sz="1000" dirty="0"/>
              <a:t> </a:t>
            </a:r>
            <a:r>
              <a:rPr sz="1000" dirty="0"/>
              <a:t>(</a:t>
            </a:r>
            <a:r>
              <a:rPr sz="1000" dirty="0">
                <a:latin typeface="Arial (正文)" charset="0"/>
                <a:cs typeface="Arial (正文)" charset="0"/>
              </a:rPr>
              <a:t>SRIBD</a:t>
            </a:r>
            <a:r>
              <a:rPr sz="1000" dirty="0"/>
              <a:t>)</a:t>
            </a:r>
            <a:endParaRPr sz="1000" dirty="0"/>
          </a:p>
        </p:txBody>
      </p:sp>
      <p:sp>
        <p:nvSpPr>
          <p:cNvPr id="39" name="Shenzhen Research Institute of Big Data…"/>
          <p:cNvSpPr txBox="1"/>
          <p:nvPr userDrawn="1"/>
        </p:nvSpPr>
        <p:spPr>
          <a:xfrm>
            <a:off x="3799205" y="3942080"/>
            <a:ext cx="1562100" cy="50736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Sun Yat-sen </a:t>
            </a:r>
            <a:endParaRPr lang="en-US" altLang="zh-CN" sz="1000" dirty="0"/>
          </a:p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University</a:t>
            </a:r>
            <a:endParaRPr lang="en-US" altLang="zh-CN" sz="1000" dirty="0"/>
          </a:p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(SYSU)</a:t>
            </a:r>
            <a:endParaRPr lang="en-US" altLang="zh-CN" sz="1000" dirty="0"/>
          </a:p>
        </p:txBody>
      </p:sp>
      <p:sp>
        <p:nvSpPr>
          <p:cNvPr id="40" name="Shenzhen Research Institute of Big Data…"/>
          <p:cNvSpPr txBox="1"/>
          <p:nvPr userDrawn="1"/>
        </p:nvSpPr>
        <p:spPr>
          <a:xfrm>
            <a:off x="5701030" y="3942080"/>
            <a:ext cx="1562100" cy="50736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The Chinese University</a:t>
            </a:r>
            <a:endParaRPr lang="en-US" altLang="zh-CN" sz="1000" dirty="0"/>
          </a:p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 of Hong Kong, Shenzhen</a:t>
            </a:r>
            <a:endParaRPr lang="en-US" altLang="zh-CN" sz="1000" dirty="0"/>
          </a:p>
          <a:p>
            <a:pPr algn="ctr">
              <a:lnSpc>
                <a:spcPct val="110000"/>
              </a:lnSpc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sz="1000" dirty="0"/>
              <a:t>(CUHK-SZ)</a:t>
            </a:r>
            <a:endParaRPr lang="en-US" altLang="zh-CN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363283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 smtClean="0">
                <a:solidFill>
                  <a:schemeClr val="accent1"/>
                </a:solidFill>
                <a:latin typeface="+mn-lt"/>
                <a:cs typeface="Calibri" panose="020F0502020204030204" pitchFamily="34" charset="0"/>
              </a:rPr>
              <a:t> Background: Wi-Fi Sensing </a:t>
            </a:r>
            <a:endParaRPr lang="zh-CN" altLang="en-US" sz="2000" b="1" dirty="0">
              <a:solidFill>
                <a:schemeClr val="accent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6265" y="605790"/>
            <a:ext cx="8129270" cy="2499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solidFill>
                  <a:schemeClr val="tx1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Wi-Fi Sensing</a:t>
            </a:r>
            <a:endParaRPr lang="en-US" altLang="zh-CN" b="1" dirty="0" smtClean="0">
              <a:solidFill>
                <a:schemeClr val="tx1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Advantages: high privacy, high penetration, extensive coverage, and low cost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Application scenarios</a:t>
            </a:r>
            <a: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: smart elderly care, smart 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home</a:t>
            </a:r>
            <a:r>
              <a:rPr lang="en-US" altLang="zh-CN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, smart transportation...</a:t>
            </a:r>
            <a:endParaRPr lang="en-US" altLang="zh-CN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Specific tasks: 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indoor localization, tracking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, fall detection, action recognition ...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60600"/>
            <a:ext cx="9144000" cy="1642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363283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chemeClr val="accent1"/>
                </a:solidFill>
                <a:latin typeface="+mn-lt"/>
                <a:cs typeface="Calibri" panose="020F0502020204030204" pitchFamily="34" charset="0"/>
                <a:sym typeface="+mn-ea"/>
              </a:rPr>
              <a:t> Background: Wi-Fi Sensing </a:t>
            </a:r>
            <a:endParaRPr lang="zh-CN" altLang="en-US" sz="2000" b="1" dirty="0">
              <a:solidFill>
                <a:schemeClr val="accent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930" y="2482850"/>
            <a:ext cx="7393940" cy="19735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36"/>
              <p:cNvSpPr txBox="1"/>
              <p:nvPr/>
            </p:nvSpPr>
            <p:spPr>
              <a:xfrm>
                <a:off x="596265" y="605790"/>
                <a:ext cx="8129270" cy="196532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30000"/>
                  </a:lnSpc>
                  <a:buFont typeface="Wingdings" panose="05000000000000000000" pitchFamily="2" charset="2"/>
                  <a:buChar char="q"/>
                </a:pPr>
                <a:r>
                  <a:rPr lang="en-US" altLang="zh-CN" b="1" dirty="0" smtClean="0">
                    <a:ea typeface="微软雅黑" panose="020B0503020204020204" pitchFamily="34" charset="-122"/>
                    <a:cs typeface="Calibri" panose="020F0502020204030204" pitchFamily="34" charset="0"/>
                    <a:sym typeface="+mn-ea"/>
                  </a:rPr>
                  <a:t>Channel State Information (CSI)</a:t>
                </a:r>
                <a:endParaRPr lang="en-US" altLang="zh-CN" b="1" dirty="0" smtClean="0">
                  <a:ea typeface="微软雅黑" panose="020B0503020204020204" pitchFamily="34" charset="-122"/>
                  <a:cs typeface="Calibri" panose="020F0502020204030204" pitchFamily="34" charset="0"/>
                  <a:sym typeface="+mn-ea"/>
                </a:endParaRPr>
              </a:p>
              <a:p>
                <a:pPr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𝑯𝑿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b="1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altLang="zh-CN" sz="1600" b="1" i="1" dirty="0">
                  <a:latin typeface="Cambria Math" panose="02040503050406030204" pitchFamily="18" charset="0"/>
                  <a:ea typeface="微软雅黑" panose="020B0503020204020204" pitchFamily="34" charset="-122"/>
                  <a:cs typeface="Cambria Math" panose="02040503050406030204" pitchFamily="18" charset="0"/>
                </a:endParaRPr>
              </a:p>
              <a:p>
                <a:pPr marL="628650" lvl="1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Y</a:t>
                </a:r>
                <a:r>
                  <a:rPr lang="en-US" altLang="zh-CN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received signals;  </a:t>
                </a:r>
                <a:r>
                  <a:rPr lang="en-US" altLang="zh-CN" b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en-US" altLang="zh-CN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transmitted signals</a:t>
                </a:r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endParaRPr>
              </a:p>
              <a:p>
                <a:pPr marL="628650" lvl="1" indent="-285750"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en-US" altLang="zh-CN" b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H</a:t>
                </a:r>
                <a:r>
                  <a:rPr lang="en-US" altLang="zh-CN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channel matrix;    </a:t>
                </a:r>
                <a:r>
                  <a:rPr lang="en-US" altLang="zh-CN" b="1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N</a:t>
                </a:r>
                <a:r>
                  <a:rPr lang="en-US" altLang="zh-CN" dirty="0">
                    <a:latin typeface="Arial" panose="020B0604020202020204" pitchFamily="34" charset="0"/>
                    <a:ea typeface="微软雅黑" panose="020B0503020204020204" pitchFamily="34" charset="-122"/>
                    <a:sym typeface="+mn-ea"/>
                  </a:rPr>
                  <a:t>: noise signal</a:t>
                </a:r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  <a:p>
                <a:pPr indent="0">
                  <a:lnSpc>
                    <a:spcPct val="130000"/>
                  </a:lnSpc>
                  <a:buFont typeface="Wingdings" panose="05000000000000000000" pitchFamily="2" charset="2"/>
                  <a:buNone/>
                </a:pPr>
                <a:endParaRPr lang="en-US" altLang="zh-CN" b="1" dirty="0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5" y="605790"/>
                <a:ext cx="8129270" cy="19653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208028"/>
            <a:ext cx="3495040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Background: Data Scarcity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6265" y="605790"/>
            <a:ext cx="8129270" cy="2499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solidFill>
                  <a:schemeClr val="tx1"/>
                </a:solidFill>
                <a:ea typeface="微软雅黑" panose="020B0503020204020204" pitchFamily="34" charset="-122"/>
                <a:cs typeface="Calibri" panose="020F0502020204030204" pitchFamily="34" charset="0"/>
              </a:rPr>
              <a:t>Limited Public Dataset</a:t>
            </a:r>
            <a:endParaRPr lang="en-US" altLang="zh-CN" b="1" dirty="0" smtClean="0">
              <a:solidFill>
                <a:schemeClr val="tx1"/>
              </a:solidFill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628650" lvl="1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Data Heterogeneity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RX-TX pair amount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antenna amount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subcarrier configurations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sampling rate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frequency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0858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4576"/>
          <a:stretch>
            <a:fillRect/>
          </a:stretch>
        </p:blipFill>
        <p:spPr>
          <a:xfrm>
            <a:off x="58420" y="3806190"/>
            <a:ext cx="9064625" cy="7778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4629785"/>
            <a:ext cx="914400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9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[1] Wang F, Zhang T, Zhao B, et al. A survey on wi-fi sensing generalizability: Taxonomy, techniques, datasets, and future research prospects[J]. arXiv preprint arXiv:2503.08008, 2025.</a:t>
            </a:r>
            <a:endParaRPr lang="en-US" altLang="zh-CN" sz="9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387985" y="208280"/>
            <a:ext cx="875601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0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Background: Data Collection Method for Wi-Fi Localization &amp; Tracking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6265" y="605790"/>
            <a:ext cx="8523605" cy="924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Pre-assigned Position &amp; Trajectory 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Corse-grained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Time-costly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503045"/>
            <a:ext cx="3392170" cy="30702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8785" y="4513580"/>
            <a:ext cx="395224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9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[2] Liu W, Chen Y, Zhang H. Sifi: Siamese networks based csi fingerprint indoor localization with wifi[C]//2024 IEEE Wireless Communications and Networking Conference (WCNC). IEEE, 2024: 01-06.</a:t>
            </a:r>
            <a:endParaRPr lang="en-US" altLang="zh-CN" sz="9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665" y="1530350"/>
            <a:ext cx="3773805" cy="28651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23130" y="4513580"/>
            <a:ext cx="395287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9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[3] Zhang Z, Lee M, Choi S. Deep-learning-based Wi-Fi indoor positioning system using continuous CSI of trajectories[J]. Sensors, 2021, 21(17): 5776.</a:t>
            </a:r>
            <a:endParaRPr lang="en-US" altLang="zh-CN" sz="9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155" y="2267585"/>
            <a:ext cx="6410325" cy="2662555"/>
          </a:xfrm>
          <a:prstGeom prst="rect">
            <a:avLst/>
          </a:prstGeom>
        </p:spPr>
      </p:pic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14" name="矩形 46"/>
          <p:cNvSpPr>
            <a:spLocks noChangeArrowheads="1"/>
          </p:cNvSpPr>
          <p:nvPr/>
        </p:nvSpPr>
        <p:spPr bwMode="auto">
          <a:xfrm>
            <a:off x="501585" y="206451"/>
            <a:ext cx="2408555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l">
              <a:buNone/>
            </a:pPr>
            <a:r>
              <a:rPr lang="en-US" altLang="zh-CN" sz="2000" b="1" dirty="0" smtClean="0">
                <a:solidFill>
                  <a:srgbClr val="002060"/>
                </a:solidFill>
                <a:latin typeface="Arial" panose="020B0604020202020204" pitchFamily="34" charset="0"/>
                <a:sym typeface="+mn-ea"/>
              </a:rPr>
              <a:t>Our Solution: LoFi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36"/>
          <p:cNvSpPr txBox="1"/>
          <p:nvPr/>
        </p:nvSpPr>
        <p:spPr>
          <a:xfrm>
            <a:off x="596265" y="605790"/>
            <a:ext cx="8129270" cy="1715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Workflow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Data Collection: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ision &amp; CSI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Data Process: modality alignment &amp; missing data interpolation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Label Generation: human detection in images &amp; coordination transformation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Dataset Creation: pairing label with CSI</a:t>
            </a: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indent="0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501585" y="170891"/>
            <a:ext cx="156400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Experiment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650" y="661035"/>
            <a:ext cx="8206740" cy="1910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altLang="zh-CN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Dataset Collection</a:t>
            </a:r>
            <a:endParaRPr lang="en-US" altLang="zh-CN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RX-TX: single pair ESP32-S3 with single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antenna 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Camera: Intel D435 (utilzing the RGB image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only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Object Detection Algorithm: YOLOv3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Error in Three Views: 17.44cm, 12.13cm, and 11.82cm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24760"/>
            <a:ext cx="9144000" cy="2279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55" y="2171065"/>
            <a:ext cx="4987290" cy="2972435"/>
          </a:xfrm>
          <a:prstGeom prst="rect">
            <a:avLst/>
          </a:prstGeom>
        </p:spPr>
      </p:pic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650" y="661035"/>
            <a:ext cx="8206740" cy="162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Benchmark Methods</a:t>
            </a:r>
            <a:endParaRPr lang="en-US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Convolutional Network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frequency correlation -&gt; CNN </a:t>
            </a: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-&gt; output linear layer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Time-series Netwrok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time-dimension normalization -&gt; seires network -&gt; self-attention -&gt; output </a:t>
            </a: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linear </a:t>
            </a: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layer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56400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Experiment</a:t>
            </a:r>
            <a:endParaRPr lang="en-US" altLang="zh-CN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矩形 46"/>
          <p:cNvSpPr>
            <a:spLocks noChangeArrowheads="1"/>
          </p:cNvSpPr>
          <p:nvPr/>
        </p:nvSpPr>
        <p:spPr bwMode="auto">
          <a:xfrm>
            <a:off x="501585" y="170891"/>
            <a:ext cx="1564005" cy="490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panose="020B0604020202020204" pitchFamily="34" charset="0"/>
              </a:rPr>
              <a:t>Experiment</a:t>
            </a:r>
            <a:endParaRPr lang="zh-CN" altLang="en-US" sz="20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650" y="661035"/>
            <a:ext cx="5539740" cy="1768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Benchmark Results</a:t>
            </a:r>
            <a:endParaRPr lang="en-US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ResNet and CSI-BERT show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superior </a:t>
            </a: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performance.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</a:rPr>
              <a:t>Average localization error is less than 1m across all methods.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Deep learning methods demonstrate effectiveness in Wi-Fi localization with a single RX-TX pair and single antenna.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900045"/>
            <a:ext cx="7566660" cy="17500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661035"/>
            <a:ext cx="2466340" cy="2239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75535"/>
            <a:ext cx="9144000" cy="2354580"/>
          </a:xfrm>
          <a:prstGeom prst="rect">
            <a:avLst/>
          </a:prstGeom>
        </p:spPr>
      </p:pic>
      <p:sp>
        <p:nvSpPr>
          <p:cNvPr id="26" name="矩形 46"/>
          <p:cNvSpPr>
            <a:spLocks noChangeArrowheads="1"/>
          </p:cNvSpPr>
          <p:nvPr/>
        </p:nvSpPr>
        <p:spPr bwMode="auto">
          <a:xfrm>
            <a:off x="488054" y="779022"/>
            <a:ext cx="8037383" cy="669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lnSpc>
                <a:spcPct val="130000"/>
              </a:lnSpc>
              <a:buNone/>
            </a:pPr>
            <a:r>
              <a:rPr lang="en-US" altLang="zh-CN" b="1" dirty="0" smtClean="0">
                <a:solidFill>
                  <a:srgbClr val="002060"/>
                </a:solidFill>
                <a:latin typeface="Arial" panose="020B0604020202020204" pitchFamily="34" charset="0"/>
              </a:rPr>
              <a:t>Thanks for your attention!</a:t>
            </a:r>
            <a:endParaRPr lang="en-US" altLang="zh-CN" b="1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84" name="矩形 46"/>
          <p:cNvSpPr>
            <a:spLocks noChangeArrowheads="1"/>
          </p:cNvSpPr>
          <p:nvPr/>
        </p:nvSpPr>
        <p:spPr bwMode="auto">
          <a:xfrm>
            <a:off x="2918578" y="1809953"/>
            <a:ext cx="2886710" cy="36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800" b="1" dirty="0">
                <a:solidFill>
                  <a:schemeClr val="accent1"/>
                </a:solidFill>
                <a:latin typeface="Arial" panose="020B0604020202020204" pitchFamily="34" charset="0"/>
              </a:rPr>
              <a:t>Presented by </a:t>
            </a:r>
            <a:r>
              <a:rPr lang="en-US" altLang="zh-CN" sz="18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Zijian Zhao</a:t>
            </a:r>
            <a:endParaRPr lang="zh-CN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65" y="4197350"/>
            <a:ext cx="1590675" cy="428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2513</Words>
  <Application>WPS 演示</Application>
  <PresentationFormat>On-screen Show (16:9)</PresentationFormat>
  <Paragraphs>92</Paragraphs>
  <Slides>10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Helvetica</vt:lpstr>
      <vt:lpstr>Arial (正文)</vt:lpstr>
      <vt:lpstr>Cambria Math</vt:lpstr>
      <vt:lpstr>Arial Unicode MS</vt:lpstr>
      <vt:lpstr>Sweetie</vt:lpstr>
      <vt:lpstr>Wonder Arial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号百公司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Titan</dc:creator>
  <cp:lastModifiedBy>赵子健</cp:lastModifiedBy>
  <cp:revision>827</cp:revision>
  <cp:lastPrinted>2023-09-13T13:29:00Z</cp:lastPrinted>
  <dcterms:created xsi:type="dcterms:W3CDTF">2014-06-03T07:56:00Z</dcterms:created>
  <dcterms:modified xsi:type="dcterms:W3CDTF">2025-11-29T09:23:35Z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791DBB856C1143E0A91DF5700A402977_12</vt:lpwstr>
  </property>
  <property fmtid="{D5CDD505-2E9C-101B-9397-08002B2CF9AE}" pid="3" name="KSOProductBuildVer">
    <vt:lpwstr>2052-12.1.0.23542</vt:lpwstr>
  </property>
</Properties>
</file>