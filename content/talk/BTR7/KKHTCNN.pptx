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25"/>
  </p:handoutMasterIdLst>
  <p:sldIdLst>
    <p:sldId id="488" r:id="rId3"/>
    <p:sldId id="522" r:id="rId5"/>
    <p:sldId id="490" r:id="rId6"/>
    <p:sldId id="512" r:id="rId7"/>
    <p:sldId id="558" r:id="rId8"/>
    <p:sldId id="524" r:id="rId9"/>
    <p:sldId id="560" r:id="rId10"/>
    <p:sldId id="561" r:id="rId11"/>
    <p:sldId id="559" r:id="rId12"/>
    <p:sldId id="536" r:id="rId13"/>
    <p:sldId id="564" r:id="rId14"/>
    <p:sldId id="572" r:id="rId15"/>
    <p:sldId id="565" r:id="rId16"/>
    <p:sldId id="562" r:id="rId17"/>
    <p:sldId id="563" r:id="rId18"/>
    <p:sldId id="516" r:id="rId19"/>
    <p:sldId id="571" r:id="rId20"/>
    <p:sldId id="567" r:id="rId21"/>
    <p:sldId id="569" r:id="rId22"/>
    <p:sldId id="570" r:id="rId23"/>
    <p:sldId id="520" r:id="rId24"/>
  </p:sldIdLst>
  <p:sldSz cx="9144000" cy="5143500" type="screen16x9"/>
  <p:notesSz cx="6858000" cy="9144000"/>
  <p:custDataLst>
    <p:tags r:id="rId29"/>
  </p:custDataLst>
  <p:defaultTextStyle>
    <a:defPPr>
      <a:defRPr lang="zh-CN"/>
    </a:defPPr>
    <a:lvl1pPr marL="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64" userDrawn="1">
          <p15:clr>
            <a:srgbClr val="A4A3A4"/>
          </p15:clr>
        </p15:guide>
        <p15:guide id="2" pos="3784" userDrawn="1">
          <p15:clr>
            <a:srgbClr val="A4A3A4"/>
          </p15:clr>
        </p15:guide>
        <p15:guide id="3" orient="horz" pos="1887" userDrawn="1">
          <p15:clr>
            <a:srgbClr val="A4A3A4"/>
          </p15:clr>
        </p15:guide>
        <p15:guide id="4" orient="horz" pos="1114" userDrawn="1">
          <p15:clr>
            <a:srgbClr val="A4A3A4"/>
          </p15:clr>
        </p15:guide>
        <p15:guide id="5" orient="horz" pos="705" userDrawn="1">
          <p15:clr>
            <a:srgbClr val="A4A3A4"/>
          </p15:clr>
        </p15:guide>
        <p15:guide id="6" pos="3025" userDrawn="1">
          <p15:clr>
            <a:srgbClr val="A4A3A4"/>
          </p15:clr>
        </p15:guide>
        <p15:guide id="7" pos="382" userDrawn="1">
          <p15:clr>
            <a:srgbClr val="A4A3A4"/>
          </p15:clr>
        </p15:guide>
        <p15:guide id="8" pos="54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A40F39"/>
    <a:srgbClr val="D6D8E0"/>
    <a:srgbClr val="698CF5"/>
    <a:srgbClr val="93CB94"/>
    <a:srgbClr val="84B770"/>
    <a:srgbClr val="84B76F"/>
    <a:srgbClr val="A4A3A4"/>
    <a:srgbClr val="CC6600"/>
    <a:srgbClr val="517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92" autoAdjust="0"/>
    <p:restoredTop sz="80750" autoAdjust="0"/>
  </p:normalViewPr>
  <p:slideViewPr>
    <p:cSldViewPr snapToGrid="0" snapToObjects="1" showGuides="1">
      <p:cViewPr varScale="1">
        <p:scale>
          <a:sx n="147" d="100"/>
          <a:sy n="147" d="100"/>
        </p:scale>
        <p:origin x="605" y="106"/>
      </p:cViewPr>
      <p:guideLst>
        <p:guide orient="horz" pos="2664"/>
        <p:guide pos="3784"/>
        <p:guide orient="horz" pos="1887"/>
        <p:guide orient="horz" pos="1114"/>
        <p:guide orient="horz" pos="705"/>
        <p:guide pos="3025"/>
        <p:guide pos="382"/>
        <p:guide pos="548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gs" Target="tags/tag7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18F8A-74B5-9148-A891-627592061A3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8768D9-5829-CA4C-800C-5932EF9830F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D6ACD6-F780-4A47-B5D9-D292A4BD6F8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background: black-box RL+profit maximize-&gt;discrimination</a:t>
            </a:r>
            <a:endParaRPr lang="en-US" altLang="zh-CN" dirty="0"/>
          </a:p>
          <a:p>
            <a:r>
              <a:rPr lang="en-US" altLang="zh-CN" dirty="0"/>
              <a:t>2. reflection: payment &amp; dispatching</a:t>
            </a:r>
            <a:endParaRPr lang="en-US" altLang="zh-CN" dirty="0"/>
          </a:p>
          <a:p>
            <a:r>
              <a:rPr lang="en-US" altLang="zh-CN" dirty="0"/>
              <a:t>3. infleucen: mental and physical health</a:t>
            </a:r>
            <a:endParaRPr lang="en-US" altLang="zh-CN" dirty="0"/>
          </a:p>
          <a:p>
            <a:r>
              <a:rPr lang="en-US" altLang="zh-CN" dirty="0"/>
              <a:t>4. behind reason: overuse individual information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data regulation policy requires:</a:t>
            </a:r>
            <a:br>
              <a:rPr lang="en-US" altLang="zh-CN" dirty="0"/>
            </a:br>
            <a:r>
              <a:rPr lang="en-US" altLang="zh-CN" dirty="0"/>
              <a:t>platform use minimum necessary data</a:t>
            </a:r>
            <a:endParaRPr lang="en-US" altLang="zh-CN" dirty="0"/>
          </a:p>
          <a:p>
            <a:r>
              <a:rPr lang="en-US" altLang="zh-CN" dirty="0"/>
              <a:t>customers &amp; couriers have the rights to decide whether to allow platform use and collect the individual data</a:t>
            </a:r>
            <a:endParaRPr lang="en-US" altLang="zh-CN" dirty="0"/>
          </a:p>
          <a:p>
            <a:r>
              <a:rPr lang="en-US" altLang="zh-CN" dirty="0"/>
              <a:t>also can change their choice at any time they want</a:t>
            </a:r>
            <a:endParaRPr lang="en-US" altLang="zh-CN" dirty="0"/>
          </a:p>
          <a:p>
            <a:r>
              <a:rPr lang="en-US" altLang="zh-CN" dirty="0"/>
              <a:t>2. mostly current works are based on statistical analysis and interview research on specific example</a:t>
            </a:r>
            <a:endParaRPr lang="en-US" altLang="zh-CN" dirty="0"/>
          </a:p>
          <a:p>
            <a:r>
              <a:rPr lang="en-US" altLang="zh-CN" dirty="0"/>
              <a:t>unsure about how DPR influence the behavior and profit of platforms and couriers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payment: continuous, dispatching: discrete; limited RL work considering the joint optimization for continous and discrete action space</a:t>
            </a:r>
            <a:endParaRPr lang="en-US" altLang="zh-CN" dirty="0"/>
          </a:p>
          <a:p>
            <a:r>
              <a:rPr lang="en-US" altLang="zh-CN" dirty="0"/>
              <a:t>2. courier behavior has two time scales</a:t>
            </a:r>
            <a:endParaRPr lang="en-US" altLang="zh-CN" dirty="0"/>
          </a:p>
          <a:p>
            <a:r>
              <a:rPr lang="en-US" altLang="zh-CN" dirty="0"/>
              <a:t>3. the game proces is complex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Exponential moving average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platform income from customer</a:t>
            </a:r>
            <a:endParaRPr lang="en-US" altLang="zh-CN" dirty="0"/>
          </a:p>
          <a:p>
            <a:r>
              <a:rPr lang="en-US" altLang="zh-CN" dirty="0"/>
              <a:t>platfomr outcome (payment to couriers)</a:t>
            </a:r>
            <a:endParaRPr lang="en-US" altLang="zh-CN" dirty="0"/>
          </a:p>
          <a:p>
            <a:r>
              <a:rPr lang="en-US" altLang="zh-CN" dirty="0"/>
              <a:t>customer satisfaction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Since DDQN is an off-policy method but PPO is on-policy, we propsoe to train them alternatively to avoid any interference.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323550" y="4866910"/>
            <a:ext cx="820283" cy="276999"/>
          </a:xfrm>
          <a:prstGeom prst="rect">
            <a:avLst/>
          </a:prstGeom>
        </p:spPr>
        <p:txBody>
          <a:bodyPr lIns="68580" tIns="34290" rIns="68580" bIns="34290"/>
          <a:lstStyle/>
          <a:p>
            <a:pPr algn="ctr">
              <a:defRPr/>
            </a:pPr>
            <a:fld id="{2EEF1883-7A0E-4F66-9932-E581691AD397}" type="slidenum">
              <a: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</a:rPr>
            </a:fld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slow">
    <p:pull/>
  </p:transition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i="0" kern="1200" baseline="0">
          <a:solidFill>
            <a:srgbClr val="071F65"/>
          </a:solidFill>
          <a:effectLst/>
          <a:latin typeface="Arial Black" panose="020B0A040201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67970" indent="-267970" algn="just" defTabSz="685800" rtl="0" eaLnBrk="1" latinLnBrk="0" hangingPunct="1">
        <a:lnSpc>
          <a:spcPct val="110000"/>
        </a:lnSpc>
        <a:spcBef>
          <a:spcPts val="1350"/>
        </a:spcBef>
        <a:spcAft>
          <a:spcPts val="0"/>
        </a:spcAft>
        <a:buClr>
          <a:schemeClr val="accent2">
            <a:lumMod val="75000"/>
          </a:schemeClr>
        </a:buClr>
        <a:buSzPct val="70000"/>
        <a:buFont typeface="Wingdings 2" panose="05020102010507070707" pitchFamily="18" charset="2"/>
        <a:buChar char=""/>
        <a:defRPr sz="1500" kern="1200" baseline="0">
          <a:solidFill>
            <a:srgbClr val="071F65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267970" indent="-267970" algn="just" defTabSz="685800" rtl="0" eaLnBrk="1" latinLnBrk="0" hangingPunct="1">
        <a:lnSpc>
          <a:spcPct val="130000"/>
        </a:lnSpc>
        <a:spcBef>
          <a:spcPts val="0"/>
        </a:spcBef>
        <a:spcAft>
          <a:spcPts val="45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200" kern="1200" baseline="0">
          <a:solidFill>
            <a:srgbClr val="071F65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38.png"/><Relationship Id="rId4" Type="http://schemas.openxmlformats.org/officeDocument/2006/relationships/tags" Target="../tags/tag2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0" Type="http://schemas.openxmlformats.org/officeDocument/2006/relationships/notesSlide" Target="../notesSlides/notesSlide17.xml"/><Relationship Id="rId1" Type="http://schemas.openxmlformats.org/officeDocument/2006/relationships/tags" Target="../tags/tag1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46"/>
          <p:cNvSpPr>
            <a:spLocks noChangeArrowheads="1"/>
          </p:cNvSpPr>
          <p:nvPr/>
        </p:nvSpPr>
        <p:spPr bwMode="auto">
          <a:xfrm>
            <a:off x="835025" y="1344930"/>
            <a:ext cx="7473950" cy="1197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spcBef>
                <a:spcPts val="600"/>
              </a:spcBef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+mn-lt"/>
                <a:cs typeface="Calibri" panose="020F0502020204030204" pitchFamily="34" charset="0"/>
              </a:rPr>
              <a:t>Discriminatory Order Assignment and Payment-Setting of On-Demand Food-Delivery Platforms: The Impacts of Data Privacy Regulations</a:t>
            </a:r>
            <a:endParaRPr lang="en-US" altLang="zh-CN" sz="2400" b="1" dirty="0">
              <a:solidFill>
                <a:srgbClr val="002060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84" name="矩形 46"/>
          <p:cNvSpPr>
            <a:spLocks noChangeArrowheads="1"/>
          </p:cNvSpPr>
          <p:nvPr/>
        </p:nvSpPr>
        <p:spPr bwMode="auto">
          <a:xfrm>
            <a:off x="2173925" y="2943348"/>
            <a:ext cx="4431665" cy="890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spcBef>
                <a:spcPts val="600"/>
              </a:spcBef>
              <a:buNone/>
            </a:pPr>
            <a:r>
              <a:rPr lang="en-US" altLang="zh-CN" sz="1400" b="1" dirty="0" err="1" smtClean="0">
                <a:latin typeface="+mn-lt"/>
                <a:cs typeface="Calibri" panose="020F0502020204030204" pitchFamily="34" charset="0"/>
              </a:rPr>
              <a:t>Zijian</a:t>
            </a:r>
            <a:r>
              <a:rPr lang="en-US" altLang="zh-CN" sz="1400" b="1" dirty="0" smtClean="0">
                <a:latin typeface="+mn-lt"/>
                <a:cs typeface="Calibri" panose="020F0502020204030204" pitchFamily="34" charset="0"/>
              </a:rPr>
              <a:t> Zhao</a:t>
            </a:r>
            <a:r>
              <a:rPr lang="en-US" altLang="zh-CN" sz="1400" dirty="0" smtClean="0">
                <a:latin typeface="+mn-lt"/>
                <a:cs typeface="Calibri" panose="020F0502020204030204" pitchFamily="34" charset="0"/>
              </a:rPr>
              <a:t>, </a:t>
            </a:r>
            <a:r>
              <a:rPr lang="en-US" altLang="zh-CN" sz="1400" dirty="0" smtClean="0">
                <a:latin typeface="+mn-lt"/>
                <a:cs typeface="Calibri" panose="020F0502020204030204" pitchFamily="34" charset="0"/>
              </a:rPr>
              <a:t>Sen Li</a:t>
            </a:r>
            <a:r>
              <a:rPr lang="en-US" altLang="zh-CN" sz="1400" b="1" dirty="0" smtClean="0">
                <a:latin typeface="+mn-lt"/>
                <a:cs typeface="Calibri" panose="020F0502020204030204" pitchFamily="34" charset="0"/>
              </a:rPr>
              <a:t> </a:t>
            </a:r>
            <a:endParaRPr lang="en-US" altLang="zh-CN" sz="1400" b="1" dirty="0" smtClean="0">
              <a:latin typeface="+mn-lt"/>
              <a:cs typeface="Calibri" panose="020F0502020204030204" pitchFamily="34" charset="0"/>
            </a:endParaRPr>
          </a:p>
          <a:p>
            <a:pPr algn="ctr">
              <a:spcBef>
                <a:spcPts val="600"/>
              </a:spcBef>
              <a:buNone/>
            </a:pPr>
            <a:r>
              <a:rPr lang="en-US" altLang="zh-CN" sz="1400" dirty="0" smtClean="0">
                <a:latin typeface="+mn-lt"/>
                <a:cs typeface="Calibri" panose="020F0502020204030204" pitchFamily="34" charset="0"/>
              </a:rPr>
              <a:t>Department </a:t>
            </a:r>
            <a:r>
              <a:rPr lang="en-US" altLang="zh-CN" sz="1400" dirty="0" smtClean="0">
                <a:latin typeface="+mn-lt"/>
                <a:cs typeface="Calibri" panose="020F0502020204030204" pitchFamily="34" charset="0"/>
              </a:rPr>
              <a:t>of Civil and Environmental Engineering</a:t>
            </a:r>
            <a:endParaRPr lang="en-US" altLang="zh-CN" sz="1400" dirty="0">
              <a:latin typeface="+mn-lt"/>
              <a:cs typeface="Calibri" panose="020F0502020204030204" pitchFamily="34" charset="0"/>
            </a:endParaRPr>
          </a:p>
          <a:p>
            <a:pPr algn="ctr">
              <a:spcBef>
                <a:spcPts val="600"/>
              </a:spcBef>
              <a:buNone/>
            </a:pPr>
            <a:r>
              <a:rPr lang="en-US" altLang="zh-CN" sz="1400" dirty="0" smtClean="0">
                <a:latin typeface="+mn-lt"/>
                <a:cs typeface="Calibri" panose="020F0502020204030204" pitchFamily="34" charset="0"/>
              </a:rPr>
              <a:t>The Hong Kong University of Science and Technology</a:t>
            </a:r>
            <a:endParaRPr lang="zh-CN" altLang="en-US" sz="18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263" y="285789"/>
            <a:ext cx="1807695" cy="578463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0" y="4892675"/>
            <a:ext cx="9144000" cy="2508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800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Zhao, Zijian, and Sen Li. "The impacts of data privacy regulations on food-delivery platforms." Transportation Research Part C: Emerging Technologies 181 (2025): 105364.</a:t>
            </a:r>
            <a:endParaRPr lang="en-US" altLang="zh-CN" sz="800" b="1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矩形 46"/>
          <p:cNvSpPr>
            <a:spLocks noChangeArrowheads="1"/>
          </p:cNvSpPr>
          <p:nvPr/>
        </p:nvSpPr>
        <p:spPr bwMode="auto">
          <a:xfrm>
            <a:off x="79375" y="4183380"/>
            <a:ext cx="9145270" cy="305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spcBef>
                <a:spcPts val="600"/>
              </a:spcBef>
              <a:buNone/>
            </a:pPr>
            <a:r>
              <a:rPr lang="en-US" altLang="zh-CN" sz="1400" dirty="0" smtClean="0">
                <a:latin typeface="+mn-lt"/>
                <a:cs typeface="Calibri" panose="020F0502020204030204" pitchFamily="34" charset="0"/>
              </a:rPr>
              <a:t>Presentation at 36</a:t>
            </a:r>
            <a:r>
              <a:rPr lang="en-US" altLang="zh-CN" sz="1400" baseline="30000" dirty="0" smtClean="0">
                <a:latin typeface="+mn-lt"/>
                <a:cs typeface="Calibri" panose="020F0502020204030204" pitchFamily="34" charset="0"/>
              </a:rPr>
              <a:t>th</a:t>
            </a:r>
            <a:r>
              <a:rPr lang="en-US" altLang="zh-CN" sz="1400" dirty="0" smtClean="0">
                <a:latin typeface="+mn-lt"/>
                <a:cs typeface="Calibri" panose="020F0502020204030204" pitchFamily="34" charset="0"/>
              </a:rPr>
              <a:t> KKHTCNN Symposium on Civil Engineering, December 4, 2025</a:t>
            </a:r>
            <a:endParaRPr lang="zh-CN" altLang="en-US" sz="1800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46"/>
          <p:cNvSpPr>
            <a:spLocks noChangeArrowheads="1"/>
          </p:cNvSpPr>
          <p:nvPr/>
        </p:nvSpPr>
        <p:spPr bwMode="auto">
          <a:xfrm>
            <a:off x="501585" y="208028"/>
            <a:ext cx="8279765" cy="397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zh-CN" sz="2000" b="1" dirty="0" smtClean="0">
                <a:solidFill>
                  <a:schemeClr val="accent1"/>
                </a:solidFill>
                <a:latin typeface="+mn-lt"/>
                <a:cs typeface="Calibri" panose="020F0502020204030204" pitchFamily="34" charset="0"/>
              </a:rPr>
              <a:t> Background: Algorithm Discrimination in Food-Delivery Platforms </a:t>
            </a:r>
            <a:endParaRPr lang="zh-CN" altLang="en-US" sz="2000" b="1" dirty="0">
              <a:solidFill>
                <a:schemeClr val="accent1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27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96145" y="605952"/>
            <a:ext cx="8129155" cy="2961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q"/>
            </a:pPr>
            <a:r>
              <a:rPr lang="en-US" altLang="zh-CN" b="1" dirty="0" smtClean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Learning algorithm in food-delivery platforms: </a:t>
            </a:r>
            <a:endParaRPr lang="en-US" altLang="zh-CN" b="1" dirty="0" smtClean="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6286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dirty="0" smtClean="0">
                <a:ea typeface="微软雅黑" panose="020B0503020204020204" pitchFamily="34" charset="-122"/>
                <a:cs typeface="Calibri" panose="020F0502020204030204" pitchFamily="34" charset="0"/>
              </a:rPr>
              <a:t>profit maximization: Platforms aim to achieve </a:t>
            </a:r>
            <a:r>
              <a:rPr lang="en-US" altLang="zh-CN" dirty="0" smtClean="0">
                <a:solidFill>
                  <a:srgbClr val="A40F39"/>
                </a:solidFill>
                <a:ea typeface="微软雅黑" panose="020B0503020204020204" pitchFamily="34" charset="-122"/>
                <a:cs typeface="Calibri" panose="020F0502020204030204" pitchFamily="34" charset="0"/>
              </a:rPr>
              <a:t>optimal control</a:t>
            </a:r>
            <a:r>
              <a:rPr lang="en-US" altLang="zh-CN" dirty="0" smtClean="0">
                <a:ea typeface="微软雅黑" panose="020B0503020204020204" pitchFamily="34" charset="-122"/>
                <a:cs typeface="Calibri" panose="020F0502020204030204" pitchFamily="34" charset="0"/>
              </a:rPr>
              <a:t> over couriers while </a:t>
            </a:r>
            <a:r>
              <a:rPr lang="en-US" altLang="zh-CN" dirty="0" smtClean="0">
                <a:solidFill>
                  <a:schemeClr val="tx1"/>
                </a:solidFill>
                <a:ea typeface="微软雅黑" panose="020B0503020204020204" pitchFamily="34" charset="-122"/>
                <a:cs typeface="Calibri" panose="020F0502020204030204" pitchFamily="34" charset="0"/>
              </a:rPr>
              <a:t>offering the</a:t>
            </a:r>
            <a:r>
              <a:rPr lang="en-US" altLang="zh-CN" dirty="0" smtClean="0">
                <a:solidFill>
                  <a:srgbClr val="2F5597"/>
                </a:solidFill>
                <a:ea typeface="微软雅黑" panose="020B0503020204020204" pitchFamily="34" charset="-122"/>
                <a:cs typeface="Calibri" panose="020F0502020204030204" pitchFamily="34" charset="0"/>
              </a:rPr>
              <a:t> lowest payment</a:t>
            </a:r>
            <a:r>
              <a:rPr lang="en-US" altLang="zh-CN" dirty="0" smtClean="0">
                <a:ea typeface="微软雅黑" panose="020B0503020204020204" pitchFamily="34" charset="-122"/>
                <a:cs typeface="Calibri" panose="020F0502020204030204" pitchFamily="34" charset="0"/>
              </a:rPr>
              <a:t>.</a:t>
            </a:r>
            <a:endParaRPr lang="en-US" altLang="zh-CN" dirty="0" smtClean="0"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6286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dirty="0" smtClean="0">
                <a:ea typeface="微软雅黑" panose="020B0503020204020204" pitchFamily="34" charset="-122"/>
                <a:cs typeface="Calibri" panose="020F0502020204030204" pitchFamily="34" charset="0"/>
              </a:rPr>
              <a:t>overuse of privacy data: Platforms utilize personal data to differentiate between various types of couriers.</a:t>
            </a:r>
            <a:endParaRPr lang="en-US" altLang="zh-CN" dirty="0" smtClean="0"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q"/>
            </a:pPr>
            <a:r>
              <a:rPr lang="en-US" altLang="zh-CN" b="1" dirty="0" smtClean="0">
                <a:ea typeface="微软雅黑" panose="020B0503020204020204" pitchFamily="34" charset="-122"/>
                <a:cs typeface="Calibri" panose="020F0502020204030204" pitchFamily="34" charset="0"/>
              </a:rPr>
              <a:t>Discriminatory algorithmic labor management: </a:t>
            </a:r>
            <a:endParaRPr lang="en-US" altLang="zh-CN" b="1" dirty="0" smtClean="0"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6286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2F5597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personalized payment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: Couriers have varying expected salaries for the same work (referred to as ‘reservation value’) → </a:t>
            </a:r>
            <a:r>
              <a:rPr lang="en-US" altLang="zh-CN" i="1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violating principle of ‘</a:t>
            </a:r>
            <a:r>
              <a:rPr lang="en-US" altLang="zh-CN" i="1" dirty="0">
                <a:solidFill>
                  <a:srgbClr val="2F5597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equal pay for equal work</a:t>
            </a:r>
            <a:r>
              <a:rPr lang="en-US" altLang="zh-CN" i="1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’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6286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A40F39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dispatching preference</a:t>
            </a:r>
            <a:r>
              <a:rPr lang="en-US" altLang="zh-CN" dirty="0" smtClean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: Couriers with high willingness to work present higher certainty and lower costs for platforms 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→</a:t>
            </a:r>
            <a:r>
              <a:rPr lang="en-US" altLang="zh-CN" dirty="0" smtClean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prioritize couriers with more favorite working pattern</a:t>
            </a:r>
            <a:endParaRPr lang="en-US" altLang="zh-CN" i="1" dirty="0">
              <a:solidFill>
                <a:srgbClr val="A40F39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q"/>
            </a:pPr>
            <a:r>
              <a:rPr lang="en-US" altLang="zh-CN" b="1" dirty="0" smtClean="0"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Couriers controlled by algorithms: </a:t>
            </a:r>
            <a:endParaRPr lang="en-US" altLang="zh-CN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17" name="图片 16" descr="meituan"/>
          <p:cNvPicPr>
            <a:picLocks noChangeAspect="1"/>
          </p:cNvPicPr>
          <p:nvPr/>
        </p:nvPicPr>
        <p:blipFill>
          <a:blip r:embed="rId1"/>
          <a:srcRect l="16834"/>
          <a:stretch>
            <a:fillRect/>
          </a:stretch>
        </p:blipFill>
        <p:spPr>
          <a:xfrm>
            <a:off x="1386205" y="3566795"/>
            <a:ext cx="1910715" cy="1292860"/>
          </a:xfrm>
          <a:prstGeom prst="rect">
            <a:avLst/>
          </a:prstGeom>
        </p:spPr>
      </p:pic>
      <p:pic>
        <p:nvPicPr>
          <p:cNvPr id="19" name="图片 18" descr="b719-innckce9090871"/>
          <p:cNvPicPr>
            <a:picLocks noChangeAspect="1"/>
          </p:cNvPicPr>
          <p:nvPr/>
        </p:nvPicPr>
        <p:blipFill>
          <a:blip r:embed="rId2"/>
          <a:srcRect l="2730" t="14030" r="4884" b="28292"/>
          <a:stretch>
            <a:fillRect/>
          </a:stretch>
        </p:blipFill>
        <p:spPr>
          <a:xfrm>
            <a:off x="5852160" y="3566795"/>
            <a:ext cx="1910715" cy="1292860"/>
          </a:xfrm>
          <a:prstGeom prst="rect">
            <a:avLst/>
          </a:prstGeom>
        </p:spPr>
      </p:pic>
      <p:pic>
        <p:nvPicPr>
          <p:cNvPr id="20" name="图片 19" descr="59b08c553a8b053b2be46428"/>
          <p:cNvPicPr>
            <a:picLocks noChangeAspect="1"/>
          </p:cNvPicPr>
          <p:nvPr/>
        </p:nvPicPr>
        <p:blipFill>
          <a:blip r:embed="rId3"/>
          <a:srcRect l="3144" r="1296"/>
          <a:stretch>
            <a:fillRect/>
          </a:stretch>
        </p:blipFill>
        <p:spPr>
          <a:xfrm>
            <a:off x="3700780" y="3559810"/>
            <a:ext cx="1920875" cy="12992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46"/>
          <p:cNvSpPr>
            <a:spLocks noChangeArrowheads="1"/>
          </p:cNvSpPr>
          <p:nvPr/>
        </p:nvSpPr>
        <p:spPr bwMode="auto">
          <a:xfrm>
            <a:off x="501585" y="208028"/>
            <a:ext cx="5567680" cy="397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zh-CN" sz="2000" b="1" dirty="0">
                <a:solidFill>
                  <a:schemeClr val="accent1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Background: Data Privacy Regulation (DPR)</a:t>
            </a:r>
            <a:endParaRPr lang="zh-CN" altLang="en-US" sz="20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27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6265" y="608330"/>
            <a:ext cx="8001000" cy="45351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q"/>
            </a:pPr>
            <a:r>
              <a:rPr lang="en-US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Take GDPR (Europe) as an example:</a:t>
            </a:r>
            <a:endParaRPr lang="en-US" altLang="zh-CN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lang="en-US" altLang="zh-CN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lang="en-US" altLang="zh-CN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lang="en-US" altLang="zh-CN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lang="en-US" altLang="zh-CN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lang="en-US" altLang="zh-CN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628650" lvl="1" indent="-285750">
              <a:lnSpc>
                <a:spcPct val="13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Article 6.1.a : Data processing is </a:t>
            </a:r>
            <a:r>
              <a:rPr lang="en-US" altLang="zh-CN" dirty="0">
                <a:solidFill>
                  <a:srgbClr val="2F5597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lawful 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only when the data subject has provided consent for one or more </a:t>
            </a:r>
            <a:r>
              <a:rPr lang="en-US" altLang="zh-CN" dirty="0">
                <a:solidFill>
                  <a:srgbClr val="2F5597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specific purposes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.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628650" lvl="1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Article 7.2: Individuals have the </a:t>
            </a:r>
            <a:r>
              <a:rPr lang="en-US" altLang="zh-CN" dirty="0">
                <a:solidFill>
                  <a:srgbClr val="A40F39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right to withdraw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consent </a:t>
            </a:r>
            <a:r>
              <a:rPr lang="en-US" altLang="zh-CN" dirty="0">
                <a:solidFill>
                  <a:srgbClr val="A40F39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at any time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, and the process for withdrawal must be as simple as providing consent.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q"/>
            </a:pPr>
            <a:r>
              <a:rPr lang="en-US" altLang="zh-CN" b="1" dirty="0" smtClean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Basic principles of DPR:</a:t>
            </a:r>
            <a:endParaRPr lang="en-US" altLang="zh-CN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6286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rgbClr val="2F5597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data minimization</a:t>
            </a:r>
            <a:endParaRPr lang="en-US" altLang="zh-CN" dirty="0" smtClean="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6286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rgbClr val="A40F39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user content, </a:t>
            </a:r>
            <a:r>
              <a:rPr lang="en-US" altLang="zh-CN" dirty="0">
                <a:solidFill>
                  <a:srgbClr val="A40F39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individual control over personal information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628650" lvl="1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2950" y="2440305"/>
            <a:ext cx="240157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400" dirty="0" err="1">
                <a:latin typeface="Arial" panose="020B0604020202020204" pitchFamily="34" charset="0"/>
                <a:ea typeface="微软雅黑" panose="020B0503020204020204" pitchFamily="34" charset="-122"/>
              </a:rPr>
              <a:t>GDPR</a:t>
            </a:r>
            <a:endParaRPr lang="en-US" altLang="zh-CN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87110" y="2419985"/>
            <a:ext cx="2400935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400" dirty="0" err="1" smtClean="0">
                <a:latin typeface="Arial" panose="020B0604020202020204" pitchFamily="34" charset="0"/>
                <a:ea typeface="微软雅黑" panose="020B0503020204020204" pitchFamily="34" charset="-122"/>
              </a:rPr>
              <a:t>CCPA</a:t>
            </a:r>
            <a:endParaRPr lang="en-US" altLang="zh-CN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55645" y="2419985"/>
            <a:ext cx="269494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PIPL</a:t>
            </a:r>
            <a:endParaRPr lang="en-US" altLang="zh-CN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5" name="图片 4" descr="GDP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045" y="926465"/>
            <a:ext cx="2402840" cy="1599565"/>
          </a:xfrm>
          <a:prstGeom prst="rect">
            <a:avLst/>
          </a:prstGeom>
        </p:spPr>
      </p:pic>
      <p:pic>
        <p:nvPicPr>
          <p:cNvPr id="6" name="图片 5" descr="CCP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0" y="926465"/>
            <a:ext cx="2417445" cy="1608455"/>
          </a:xfrm>
          <a:prstGeom prst="rect">
            <a:avLst/>
          </a:prstGeom>
        </p:spPr>
      </p:pic>
      <p:pic>
        <p:nvPicPr>
          <p:cNvPr id="8" name="图片 7" descr="images"/>
          <p:cNvPicPr>
            <a:picLocks noChangeAspect="1"/>
          </p:cNvPicPr>
          <p:nvPr/>
        </p:nvPicPr>
        <p:blipFill>
          <a:blip r:embed="rId3"/>
          <a:srcRect l="4489" r="4510"/>
          <a:stretch>
            <a:fillRect/>
          </a:stretch>
        </p:blipFill>
        <p:spPr>
          <a:xfrm>
            <a:off x="3255645" y="926465"/>
            <a:ext cx="2690495" cy="15995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46"/>
          <p:cNvSpPr>
            <a:spLocks noChangeArrowheads="1"/>
          </p:cNvSpPr>
          <p:nvPr/>
        </p:nvSpPr>
        <p:spPr bwMode="auto">
          <a:xfrm>
            <a:off x="501585" y="208028"/>
            <a:ext cx="2664508" cy="400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zh-CN" sz="20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Research Questions</a:t>
            </a:r>
            <a:endParaRPr lang="zh-CN" altLang="en-US" sz="20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27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9381" y="608144"/>
            <a:ext cx="8001000" cy="4615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zh-CN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Challenges in identifying the DPR for stakeholders:</a:t>
            </a:r>
            <a:endParaRPr lang="en-US" altLang="zh-CN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The dispatching strategy and payment strategy of platforms are coupled.</a:t>
            </a:r>
            <a:endParaRPr lang="en-US" altLang="zh-CN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Couriers' behaviors occur on different time scales: </a:t>
            </a:r>
            <a:endParaRPr lang="en-US" altLang="zh-CN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10858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long-term: decide whether to work on the platform and whether to share their personal information</a:t>
            </a:r>
            <a:endParaRPr lang="en-US" altLang="zh-CN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10858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short-term: determine whether to accept assigned orders</a:t>
            </a:r>
            <a:endParaRPr lang="en-US" altLang="zh-CN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Complex game process between platform and couriers, as well as among the couriers themselves</a:t>
            </a:r>
            <a:endParaRPr lang="en-US" altLang="zh-CN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zh-CN" b="1" dirty="0" smtClean="0">
                <a:sym typeface="+mn-ea"/>
              </a:rPr>
              <a:t>Research questions:</a:t>
            </a:r>
            <a:endParaRPr lang="en-US" altLang="zh-CN" b="1" dirty="0"/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 smtClean="0">
                <a:sym typeface="+mn-ea"/>
              </a:rPr>
              <a:t>Q1: How to model and optimize the behavior and strategy of platforms and couriers? </a:t>
            </a:r>
            <a:endParaRPr lang="en-US" altLang="zh-CN" dirty="0" smtClean="0">
              <a:sym typeface="+mn-ea"/>
            </a:endParaRPr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 smtClean="0">
                <a:sym typeface="+mn-ea"/>
              </a:rPr>
              <a:t>Q2: How does the discriminatory algorithm influence platforms and couriers</a:t>
            </a:r>
            <a:r>
              <a:rPr lang="en-US" altLang="zh-CN" dirty="0" smtClean="0"/>
              <a:t>?</a:t>
            </a:r>
            <a:endParaRPr lang="en-US" altLang="zh-CN" dirty="0" smtClean="0"/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 smtClean="0">
                <a:sym typeface="+mn-ea"/>
              </a:rPr>
              <a:t>Q3: How does data privacy regulation policy influence food delivery market?</a:t>
            </a:r>
            <a:endParaRPr lang="en-US" altLang="zh-CN" dirty="0" smtClean="0">
              <a:sym typeface="+mn-ea"/>
            </a:endParaRPr>
          </a:p>
          <a:p>
            <a:pPr lvl="1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dirty="0"/>
          </a:p>
          <a:p>
            <a:pPr lvl="1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14" name="矩形 46"/>
          <p:cNvSpPr>
            <a:spLocks noChangeArrowheads="1"/>
          </p:cNvSpPr>
          <p:nvPr/>
        </p:nvSpPr>
        <p:spPr bwMode="auto">
          <a:xfrm>
            <a:off x="501585" y="206451"/>
            <a:ext cx="2292350" cy="397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l">
              <a:buNone/>
            </a:pPr>
            <a:r>
              <a:rPr lang="en-US" altLang="zh-CN" sz="2000" b="1" dirty="0" smtClean="0">
                <a:solidFill>
                  <a:srgbClr val="002060"/>
                </a:solidFill>
                <a:latin typeface="Arial" panose="020B0604020202020204" pitchFamily="34" charset="0"/>
                <a:sym typeface="+mn-ea"/>
              </a:rPr>
              <a:t>System Workflow</a:t>
            </a:r>
            <a:endParaRPr lang="zh-CN" altLang="en-US" sz="20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pic>
        <p:nvPicPr>
          <p:cNvPr id="4" name="图片 3" descr="workflow"/>
          <p:cNvPicPr>
            <a:picLocks noChangeAspect="1"/>
          </p:cNvPicPr>
          <p:nvPr/>
        </p:nvPicPr>
        <p:blipFill>
          <a:blip r:embed="rId1"/>
          <a:srcRect t="26419"/>
          <a:stretch>
            <a:fillRect/>
          </a:stretch>
        </p:blipFill>
        <p:spPr>
          <a:xfrm>
            <a:off x="741680" y="640715"/>
            <a:ext cx="7591425" cy="16217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7995" y="2386965"/>
            <a:ext cx="8206740" cy="22993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628650" lvl="1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1200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Platform</a:t>
            </a:r>
            <a:r>
              <a:rPr lang="zh-CN" altLang="en-US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：</a:t>
            </a:r>
            <a:r>
              <a:rPr lang="en-US" altLang="zh-CN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determine </a:t>
            </a:r>
            <a:r>
              <a:rPr lang="en-US" altLang="zh-CN" sz="1200" i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order assignment </a:t>
            </a:r>
            <a:r>
              <a:rPr lang="en-US" altLang="zh-CN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and </a:t>
            </a:r>
            <a:r>
              <a:rPr lang="en-US" altLang="zh-CN" sz="1200" i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payment setting</a:t>
            </a:r>
            <a:endParaRPr lang="en-US" altLang="zh-CN" sz="1200" i="1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628650" lvl="1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1200" b="1" dirty="0">
                <a:latin typeface="Arial" panose="020B0604020202020204" pitchFamily="34" charset="0"/>
                <a:ea typeface="微软雅黑" panose="020B0503020204020204" pitchFamily="34" charset="-122"/>
              </a:rPr>
              <a:t>Couriers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</a:rPr>
              <a:t>：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1085850" lvl="2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long-term: choose from </a:t>
            </a:r>
            <a:r>
              <a:rPr lang="en-US" altLang="zh-CN" sz="1200" i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opt-in</a:t>
            </a:r>
            <a:r>
              <a:rPr lang="en-US" altLang="zh-CN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(work with providing personal information), </a:t>
            </a:r>
            <a:r>
              <a:rPr lang="en-US" altLang="zh-CN" sz="1200" i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opt-out</a:t>
            </a:r>
            <a:r>
              <a:rPr lang="en-US" altLang="zh-CN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(</a:t>
            </a:r>
            <a:r>
              <a:rPr lang="en-US" altLang="zh-CN" sz="1200" dirty="0" smtClean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work without providing personal information</a:t>
            </a:r>
            <a:r>
              <a:rPr lang="en-US" altLang="zh-CN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), or </a:t>
            </a:r>
            <a:r>
              <a:rPr lang="en-US" altLang="zh-CN" sz="1200" i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exit </a:t>
            </a:r>
            <a:r>
              <a:rPr lang="en-US" altLang="zh-CN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(do not work) at the beginning of each time period</a:t>
            </a:r>
            <a:endParaRPr lang="en-US" altLang="zh-CN" sz="12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1085850" lvl="2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short-term: determine </a:t>
            </a:r>
            <a:r>
              <a:rPr lang="en-US" altLang="zh-CN" sz="1200" i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whether to accept the assigned order</a:t>
            </a:r>
            <a:r>
              <a:rPr lang="en-US" altLang="zh-CN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based on payment and individual reservation value</a:t>
            </a:r>
            <a:endParaRPr lang="en-US" altLang="zh-CN" sz="12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628650" lvl="1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1200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Customers &amp; Restaurants:</a:t>
            </a:r>
            <a:endParaRPr lang="en-US" altLang="zh-CN" sz="1200" b="1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1085850" lvl="2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1200" i="1" dirty="0">
                <a:latin typeface="Arial" panose="020B0604020202020204" pitchFamily="34" charset="0"/>
                <a:ea typeface="微软雅黑" panose="020B0503020204020204" pitchFamily="34" charset="-122"/>
              </a:rPr>
              <a:t>set orders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</a:rPr>
              <a:t> at arbitrary times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1085850" lvl="2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1200" i="1" dirty="0">
                <a:latin typeface="Arial" panose="020B0604020202020204" pitchFamily="34" charset="0"/>
                <a:ea typeface="微软雅黑" panose="020B0503020204020204" pitchFamily="34" charset="-122"/>
              </a:rPr>
              <a:t>cancel the order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</a:rPr>
              <a:t> if not confirmed within a maximium time threshold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46"/>
          <p:cNvSpPr>
            <a:spLocks noChangeArrowheads="1"/>
          </p:cNvSpPr>
          <p:nvPr/>
        </p:nvSpPr>
        <p:spPr bwMode="auto">
          <a:xfrm>
            <a:off x="501585" y="208991"/>
            <a:ext cx="3143250" cy="397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l">
              <a:buNone/>
            </a:pPr>
            <a:r>
              <a:rPr lang="en-US" altLang="zh-CN" sz="2000" b="1" dirty="0" smtClean="0">
                <a:solidFill>
                  <a:srgbClr val="002060"/>
                </a:solidFill>
                <a:latin typeface="Arial" panose="020B0604020202020204" pitchFamily="34" charset="0"/>
                <a:sym typeface="+mn-ea"/>
              </a:rPr>
              <a:t>Model for Platform: MDP</a:t>
            </a:r>
            <a:endParaRPr lang="zh-CN" altLang="en-US" sz="20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27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501650" y="675005"/>
                <a:ext cx="7343140" cy="181800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altLang="zh-CN" b="1" dirty="0" smtClean="0">
                    <a:ea typeface="微软雅黑" panose="020B0503020204020204" pitchFamily="34" charset="-122"/>
                    <a:cs typeface="+mn-lt"/>
                  </a:rPr>
                  <a:t>State:</a:t>
                </a:r>
                <a:r>
                  <a:rPr lang="en-US" altLang="zh-CN" dirty="0" smtClean="0">
                    <a:ea typeface="微软雅黑" panose="020B0503020204020204" pitchFamily="34" charset="-122"/>
                    <a:cs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|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𝑖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𝐼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dirty="0">
                  <a:ea typeface="微软雅黑" panose="020B0503020204020204" pitchFamily="34" charset="-122"/>
                  <a:cs typeface="+mn-lt"/>
                </a:endParaRPr>
              </a:p>
              <a:p>
                <a:pPr marL="628650" lvl="1" indent="-285750">
                  <a:lnSpc>
                    <a:spcPct val="10000"/>
                  </a:lnSpc>
                  <a:spcBef>
                    <a:spcPts val="1800"/>
                  </a:spcBef>
                  <a:buFont typeface="Wingdings" panose="05000000000000000000" pitchFamily="2" charset="2"/>
                  <a:buChar char="Ø"/>
                </a:pPr>
                <a:r>
                  <a:rPr lang="en-US" altLang="zh-CN" sz="1200" i="1" dirty="0" smtClean="0">
                    <a:ea typeface="微软雅黑" panose="020B0503020204020204" pitchFamily="34" charset="-122"/>
                    <a:cs typeface="+mn-lt"/>
                  </a:rPr>
                  <a:t>t </a:t>
                </a:r>
                <a:r>
                  <a:rPr lang="en-US" altLang="zh-CN" sz="1200" dirty="0" smtClean="0">
                    <a:ea typeface="微软雅黑" panose="020B0503020204020204" pitchFamily="34" charset="-122"/>
                    <a:cs typeface="+mn-lt"/>
                  </a:rPr>
                  <a:t>: time step; </a:t>
                </a:r>
                <a:r>
                  <a:rPr lang="en-US" altLang="zh-CN" sz="1200" i="1" dirty="0" smtClean="0">
                    <a:ea typeface="微软雅黑" panose="020B0503020204020204" pitchFamily="34" charset="-122"/>
                    <a:cs typeface="+mn-lt"/>
                  </a:rPr>
                  <a:t>I </a:t>
                </a:r>
                <a:r>
                  <a:rPr lang="en-US" altLang="zh-CN" sz="1200" dirty="0" smtClean="0">
                    <a:ea typeface="微软雅黑" panose="020B0503020204020204" pitchFamily="34" charset="-122"/>
                    <a:cs typeface="+mn-lt"/>
                  </a:rPr>
                  <a:t>: set of courier indices;</a:t>
                </a:r>
                <a:endParaRPr lang="en-US" altLang="zh-CN" sz="1200" dirty="0" smtClean="0">
                  <a:ea typeface="微软雅黑" panose="020B0503020204020204" pitchFamily="34" charset="-122"/>
                  <a:cs typeface="+mn-lt"/>
                </a:endParaRPr>
              </a:p>
              <a:p>
                <a:pPr marL="628650" lvl="1" indent="-285750">
                  <a:lnSpc>
                    <a:spcPct val="20000"/>
                  </a:lnSpc>
                  <a:spcBef>
                    <a:spcPts val="1800"/>
                  </a:spcBef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sz="1200" dirty="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200" dirty="0" smtClean="0">
                    <a:ea typeface="微软雅黑" panose="020B0503020204020204" pitchFamily="34" charset="-122"/>
                    <a:cs typeface="+mn-lt"/>
                  </a:rPr>
                  <a:t> : state of courier </a:t>
                </a:r>
                <a:r>
                  <a:rPr lang="en-US" altLang="zh-CN" sz="1200" i="1" dirty="0" smtClean="0">
                    <a:ea typeface="微软雅黑" panose="020B0503020204020204" pitchFamily="34" charset="-122"/>
                    <a:cs typeface="+mn-lt"/>
                  </a:rPr>
                  <a:t>i</a:t>
                </a:r>
                <a:r>
                  <a:rPr lang="en-US" altLang="zh-CN" sz="1200" dirty="0" smtClean="0">
                    <a:ea typeface="微软雅黑" panose="020B0503020204020204" pitchFamily="34" charset="-122"/>
                    <a:cs typeface="+mn-lt"/>
                  </a:rPr>
                  <a:t>  at time </a:t>
                </a:r>
                <a:r>
                  <a:rPr lang="en-US" altLang="zh-CN" sz="1200" i="1" dirty="0" smtClean="0">
                    <a:ea typeface="微软雅黑" panose="020B0503020204020204" pitchFamily="34" charset="-122"/>
                    <a:cs typeface="+mn-lt"/>
                  </a:rPr>
                  <a:t>t</a:t>
                </a:r>
                <a:r>
                  <a:rPr lang="en-US" altLang="zh-CN" sz="1200" dirty="0" smtClean="0">
                    <a:ea typeface="微软雅黑" panose="020B0503020204020204" pitchFamily="34" charset="-122"/>
                    <a:cs typeface="+mn-lt"/>
                  </a:rPr>
                  <a:t> , defined as: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200" i="1" dirty="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=[</m:t>
                    </m:r>
                    <m:r>
                      <a:rPr lang="en-US" altLang="zh-CN" sz="12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𝑡</m:t>
                    </m:r>
                    <m:r>
                      <a:rPr lang="en-US" altLang="zh-CN" sz="1200" i="1" dirty="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200" i="1" dirty="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𝑤</m:t>
                        </m:r>
                      </m:sup>
                    </m:sSubSup>
                    <m:r>
                      <a:rPr lang="en-US" altLang="zh-CN" sz="1200" i="1" dirty="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altLang="zh-CN" sz="12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𝐺</m:t>
                    </m:r>
                    <m:r>
                      <a:rPr lang="en-US" altLang="zh-CN" sz="1200" i="1" dirty="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sz="1200" i="1" dirty="0" smtClean="0">
                  <a:ea typeface="微软雅黑" panose="020B0503020204020204" pitchFamily="34" charset="-122"/>
                  <a:cs typeface="+mn-lt"/>
                </a:endParaRPr>
              </a:p>
              <a:p>
                <a:pPr marL="1085850" lvl="2" indent="-285750">
                  <a:lnSpc>
                    <a:spcPct val="20000"/>
                  </a:lnSpc>
                  <a:spcBef>
                    <a:spcPts val="18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200" dirty="0" smtClean="0">
                    <a:ea typeface="微软雅黑" panose="020B0503020204020204" pitchFamily="34" charset="-122"/>
                    <a:cs typeface="+mn-lt"/>
                  </a:rPr>
                  <a:t>: courier information, including location, en route orders, and remaining capacity ...</a:t>
                </a:r>
                <a:endParaRPr lang="en-US" altLang="zh-CN" sz="1200" dirty="0" smtClean="0">
                  <a:ea typeface="微软雅黑" panose="020B0503020204020204" pitchFamily="34" charset="-122"/>
                  <a:cs typeface="+mn-lt"/>
                </a:endParaRPr>
              </a:p>
              <a:p>
                <a:pPr marL="1085850" lvl="2" indent="-285750">
                  <a:lnSpc>
                    <a:spcPct val="20000"/>
                  </a:lnSpc>
                  <a:spcBef>
                    <a:spcPts val="18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𝑤</m:t>
                        </m:r>
                      </m:sup>
                    </m:sSubSup>
                  </m:oMath>
                </a14:m>
                <a:r>
                  <a:rPr lang="en-US" altLang="zh-CN" sz="1200" dirty="0" smtClean="0">
                    <a:ea typeface="微软雅黑" panose="020B0503020204020204" pitchFamily="34" charset="-122"/>
                    <a:cs typeface="+mn-lt"/>
                  </a:rPr>
                  <a:t>: informations of orders to be assigned at time </a:t>
                </a:r>
                <a:r>
                  <a:rPr lang="en-US" altLang="zh-CN" sz="1200" i="1" dirty="0" smtClean="0">
                    <a:ea typeface="微软雅黑" panose="020B0503020204020204" pitchFamily="34" charset="-122"/>
                    <a:cs typeface="+mn-lt"/>
                    <a:sym typeface="+mn-ea"/>
                  </a:rPr>
                  <a:t>t</a:t>
                </a:r>
                <a:endParaRPr lang="en-US" altLang="zh-CN" sz="1200" i="1" dirty="0" smtClean="0">
                  <a:ea typeface="微软雅黑" panose="020B0503020204020204" pitchFamily="34" charset="-122"/>
                  <a:cs typeface="+mn-lt"/>
                  <a:sym typeface="+mn-ea"/>
                </a:endParaRPr>
              </a:p>
              <a:p>
                <a:pPr marL="1085850" lvl="2" indent="-285750">
                  <a:lnSpc>
                    <a:spcPct val="20000"/>
                  </a:lnSpc>
                  <a:spcBef>
                    <a:spcPts val="18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2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𝐺</m:t>
                    </m:r>
                    <m:r>
                      <a:rPr lang="en-US" altLang="zh-CN" sz="1200" i="1" dirty="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zh-CN" sz="1200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global</m:t>
                    </m:r>
                    <m:r>
                      <a:rPr lang="en-US" altLang="zh-CN" sz="1200" dirty="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1200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information</m:t>
                    </m:r>
                  </m:oMath>
                </a14:m>
                <a:r>
                  <a:rPr lang="en-US" altLang="zh-CN" sz="1200" dirty="0" smtClean="0">
                    <a:ea typeface="微软雅黑" panose="020B0503020204020204" pitchFamily="34" charset="-122"/>
                    <a:cs typeface="+mn-lt"/>
                  </a:rPr>
                  <a:t>, such as the number of couriers who choose to opt-in and opt-out ...</a:t>
                </a:r>
                <a:endParaRPr lang="en-US" altLang="zh-CN" sz="1200" i="1" dirty="0" smtClean="0">
                  <a:ea typeface="微软雅黑" panose="020B0503020204020204" pitchFamily="34" charset="-122"/>
                  <a:cs typeface="+mn-lt"/>
                </a:endParaRPr>
              </a:p>
              <a:p>
                <a:pPr marL="1085850" lvl="2" indent="-285750">
                  <a:lnSpc>
                    <a:spcPct val="150000"/>
                  </a:lnSpc>
                  <a:spcBef>
                    <a:spcPts val="1800"/>
                  </a:spcBef>
                  <a:buFont typeface="Wingdings" panose="05000000000000000000" pitchFamily="2" charset="2"/>
                  <a:buChar char="Ø"/>
                </a:pPr>
                <a:endParaRPr lang="en-US" altLang="zh-CN" sz="1200" dirty="0" smtClean="0">
                  <a:ea typeface="微软雅黑" panose="020B0503020204020204" pitchFamily="34" charset="-122"/>
                  <a:cs typeface="+mn-lt"/>
                </a:endParaRPr>
              </a:p>
              <a:p>
                <a:endParaRPr lang="en-US" altLang="zh-CN" dirty="0">
                  <a:ea typeface="微软雅黑" panose="020B0503020204020204" pitchFamily="34" charset="-122"/>
                  <a:cs typeface="+mn-lt"/>
                </a:endParaRPr>
              </a:p>
              <a:p>
                <a:pPr marL="342900" lvl="2">
                  <a:lnSpc>
                    <a:spcPct val="150000"/>
                  </a:lnSpc>
                </a:pPr>
                <a:endParaRPr lang="en-US" altLang="zh-CN" sz="1200" dirty="0">
                  <a:ea typeface="微软雅黑" panose="020B0503020204020204" pitchFamily="34" charset="-122"/>
                  <a:cs typeface="+mn-lt"/>
                </a:endParaRPr>
              </a:p>
              <a:p>
                <a:endParaRPr lang="en-US" altLang="zh-CN" dirty="0" smtClean="0">
                  <a:ea typeface="微软雅黑" panose="020B0503020204020204" pitchFamily="34" charset="-122"/>
                  <a:cs typeface="+mn-lt"/>
                </a:endParaRP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50" y="675005"/>
                <a:ext cx="7343140" cy="1818005"/>
              </a:xfrm>
              <a:prstGeom prst="rect">
                <a:avLst/>
              </a:prstGeom>
              <a:blipFill rotWithShape="1">
                <a:blip r:embed="rId1"/>
                <a:stretch>
                  <a:fillRect b="-584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285" y="2467610"/>
            <a:ext cx="7491095" cy="20840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46"/>
          <p:cNvSpPr>
            <a:spLocks noChangeArrowheads="1"/>
          </p:cNvSpPr>
          <p:nvPr/>
        </p:nvSpPr>
        <p:spPr bwMode="auto">
          <a:xfrm>
            <a:off x="501585" y="208991"/>
            <a:ext cx="3143250" cy="397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l">
              <a:buNone/>
            </a:pPr>
            <a:r>
              <a:rPr lang="en-US" altLang="zh-CN" sz="2000" b="1" dirty="0" smtClean="0">
                <a:solidFill>
                  <a:srgbClr val="002060"/>
                </a:solidFill>
                <a:latin typeface="Arial" panose="020B0604020202020204" pitchFamily="34" charset="0"/>
                <a:sym typeface="+mn-ea"/>
              </a:rPr>
              <a:t>Model for Platform: MDP</a:t>
            </a:r>
            <a:endParaRPr lang="zh-CN" altLang="en-US" sz="20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27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501650" y="675005"/>
                <a:ext cx="8001000" cy="390715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altLang="zh-CN" b="1" dirty="0">
                    <a:ea typeface="微软雅黑" panose="020B0503020204020204" pitchFamily="34" charset="-122"/>
                    <a:cs typeface="+mn-lt"/>
                  </a:rPr>
                  <a:t>How platforms record courier individual information in state space?</a:t>
                </a:r>
                <a:r>
                  <a:rPr lang="en-US" altLang="zh-CN" sz="1200" b="1" dirty="0" smtClean="0">
                    <a:ea typeface="微软雅黑" panose="020B0503020204020204" pitchFamily="34" charset="-122"/>
                    <a:cs typeface="+mn-lt"/>
                  </a:rPr>
                  <a:t> </a:t>
                </a:r>
                <a:endParaRPr lang="en-US" altLang="zh-CN" sz="1200" b="1" i="1" dirty="0" smtClean="0">
                  <a:ea typeface="微软雅黑" panose="020B0503020204020204" pitchFamily="34" charset="-122"/>
                  <a:cs typeface="+mn-lt"/>
                </a:endParaRPr>
              </a:p>
              <a:p>
                <a:pPr marL="628650" lvl="1" indent="-285750">
                  <a:lnSpc>
                    <a:spcPct val="90000"/>
                  </a:lnSpc>
                  <a:spcBef>
                    <a:spcPts val="1800"/>
                  </a:spcBef>
                  <a:buFont typeface="Wingdings" panose="05000000000000000000" pitchFamily="2" charset="2"/>
                  <a:buChar char="Ø"/>
                </a:pPr>
                <a:r>
                  <a:rPr lang="en-US" altLang="zh-CN" sz="1200" dirty="0" smtClean="0">
                    <a:ea typeface="微软雅黑" panose="020B0503020204020204" pitchFamily="34" charset="-122"/>
                    <a:cs typeface="+mn-lt"/>
                  </a:rPr>
                  <a:t>Platforms can record courier </a:t>
                </a:r>
                <a:r>
                  <a:rPr lang="en-US" altLang="zh-CN" sz="1200" dirty="0" smtClean="0">
                    <a:ea typeface="微软雅黑" panose="020B0503020204020204" pitchFamily="34" charset="-122"/>
                    <a:cs typeface="+mn-lt"/>
                    <a:sym typeface="+mn-ea"/>
                  </a:rPr>
                  <a:t>behavioral data</a:t>
                </a:r>
                <a:r>
                  <a:rPr lang="en-US" altLang="zh-CN" sz="1200" dirty="0" smtClean="0">
                    <a:ea typeface="微软雅黑" panose="020B0503020204020204" pitchFamily="34" charset="-122"/>
                    <a:cs typeface="+mn-lt"/>
                  </a:rPr>
                  <a:t> in the state space to distinguish their types. However, recording all couriers’ behavioral data seems unfeasible, since the data volume is often too large. </a:t>
                </a:r>
                <a:endParaRPr lang="en-US" altLang="zh-CN" sz="1200" dirty="0" smtClean="0">
                  <a:ea typeface="微软雅黑" panose="020B0503020204020204" pitchFamily="34" charset="-122"/>
                  <a:cs typeface="+mn-lt"/>
                </a:endParaRPr>
              </a:p>
              <a:p>
                <a:pPr marL="628650" lvl="1" indent="-285750">
                  <a:lnSpc>
                    <a:spcPct val="90000"/>
                  </a:lnSpc>
                  <a:spcBef>
                    <a:spcPts val="1800"/>
                  </a:spcBef>
                  <a:buFont typeface="Wingdings" panose="05000000000000000000" pitchFamily="2" charset="2"/>
                  <a:buChar char="Ø"/>
                </a:pPr>
                <a:r>
                  <a:rPr lang="en-US" altLang="zh-CN" sz="1200" dirty="0" smtClean="0">
                    <a:ea typeface="微软雅黑" panose="020B0503020204020204" pitchFamily="34" charset="-122"/>
                    <a:cs typeface="+mn-lt"/>
                  </a:rPr>
                  <a:t>We propose an alternative approach: </a:t>
                </a:r>
                <a:r>
                  <a:rPr lang="en-US" altLang="zh-CN" sz="1200" dirty="0" smtClean="0">
                    <a:solidFill>
                      <a:srgbClr val="2F5597"/>
                    </a:solidFill>
                    <a:ea typeface="微软雅黑" panose="020B0503020204020204" pitchFamily="34" charset="-122"/>
                    <a:cs typeface="+mn-lt"/>
                  </a:rPr>
                  <a:t>recording the average unit payment</a:t>
                </a:r>
                <a:r>
                  <a:rPr lang="en-US" altLang="zh-CN" sz="1200" dirty="0" smtClean="0">
                    <a:ea typeface="微软雅黑" panose="020B0503020204020204" pitchFamily="34" charset="-122"/>
                    <a:cs typeface="+mn-lt"/>
                  </a:rPr>
                  <a:t> (payment per minute of work) related to accepting and rejecting behaviors for each courier.</a:t>
                </a:r>
                <a:endParaRPr lang="en-US" altLang="zh-CN" sz="1200" dirty="0" smtClean="0">
                  <a:ea typeface="微软雅黑" panose="020B0503020204020204" pitchFamily="34" charset="-122"/>
                  <a:cs typeface="+mn-lt"/>
                </a:endParaRPr>
              </a:p>
              <a:p>
                <a:pPr lvl="1" indent="0">
                  <a:lnSpc>
                    <a:spcPct val="120000"/>
                  </a:lnSpc>
                  <a:spcBef>
                    <a:spcPts val="1800"/>
                  </a:spcBef>
                  <a:buFont typeface="Wingdings" panose="05000000000000000000" pitchFamily="2" charset="2"/>
                  <a:buNone/>
                </a:pPr>
                <a:endParaRPr lang="en-US" altLang="zh-CN" sz="1200" dirty="0" smtClean="0">
                  <a:ea typeface="微软雅黑" panose="020B0503020204020204" pitchFamily="34" charset="-122"/>
                  <a:cs typeface="+mn-lt"/>
                </a:endParaRPr>
              </a:p>
              <a:p>
                <a:pPr marL="628650" lvl="1" indent="-285750">
                  <a:lnSpc>
                    <a:spcPct val="120000"/>
                  </a:lnSpc>
                  <a:spcBef>
                    <a:spcPts val="1800"/>
                  </a:spcBef>
                  <a:buFont typeface="Wingdings" panose="05000000000000000000" pitchFamily="2" charset="2"/>
                  <a:buChar char="Ø"/>
                </a:pPr>
                <a:endParaRPr lang="en-US" altLang="zh-CN" sz="1200" dirty="0" smtClean="0">
                  <a:ea typeface="微软雅黑" panose="020B0503020204020204" pitchFamily="34" charset="-122"/>
                  <a:cs typeface="+mn-lt"/>
                </a:endParaRPr>
              </a:p>
              <a:p>
                <a:pPr marL="1085850" lvl="2" indent="-285750">
                  <a:lnSpc>
                    <a:spcPct val="0"/>
                  </a:lnSpc>
                  <a:spcBef>
                    <a:spcPts val="18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altLang="zh-CN" sz="1200" i="1" dirty="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𝑟</m:t>
                        </m:r>
                      </m:sup>
                    </m:sSubSup>
                  </m:oMath>
                </a14:m>
                <a:r>
                  <a:rPr lang="en-US" altLang="zh-CN" sz="1200" dirty="0" smtClean="0">
                    <a:ea typeface="微软雅黑" panose="020B0503020204020204" pitchFamily="34" charset="-122"/>
                    <a:cs typeface="+mn-lt"/>
                  </a:rPr>
                  <a:t>: average </a:t>
                </a:r>
                <a:r>
                  <a:rPr lang="en-US" altLang="zh-CN" sz="1200" dirty="0" smtClean="0">
                    <a:ea typeface="微软雅黑" panose="020B0503020204020204" pitchFamily="34" charset="-122"/>
                    <a:cs typeface="+mn-lt"/>
                    <a:sym typeface="+mn-ea"/>
                  </a:rPr>
                  <a:t>unit payment about accepting/rejecting behavior of courier </a:t>
                </a:r>
                <a:r>
                  <a:rPr lang="en-US" altLang="zh-CN" sz="1200" i="1" dirty="0" smtClean="0">
                    <a:ea typeface="微软雅黑" panose="020B0503020204020204" pitchFamily="34" charset="-122"/>
                    <a:cs typeface="+mn-lt"/>
                    <a:sym typeface="+mn-ea"/>
                  </a:rPr>
                  <a:t>i</a:t>
                </a:r>
                <a:r>
                  <a:rPr lang="en-US" altLang="zh-CN" sz="1200" dirty="0" smtClean="0">
                    <a:ea typeface="微软雅黑" panose="020B0503020204020204" pitchFamily="34" charset="-122"/>
                    <a:cs typeface="+mn-lt"/>
                    <a:sym typeface="+mn-ea"/>
                  </a:rPr>
                  <a:t> at time </a:t>
                </a:r>
                <a:r>
                  <a:rPr lang="en-US" altLang="zh-CN" sz="1200" i="1" dirty="0" smtClean="0">
                    <a:ea typeface="微软雅黑" panose="020B0503020204020204" pitchFamily="34" charset="-122"/>
                    <a:cs typeface="+mn-lt"/>
                    <a:sym typeface="+mn-ea"/>
                  </a:rPr>
                  <a:t>t</a:t>
                </a:r>
                <a:endParaRPr lang="en-US" altLang="zh-CN" sz="1200" dirty="0" smtClean="0">
                  <a:ea typeface="微软雅黑" panose="020B0503020204020204" pitchFamily="34" charset="-122"/>
                  <a:cs typeface="+mn-lt"/>
                  <a:sym typeface="+mn-ea"/>
                </a:endParaRPr>
              </a:p>
              <a:p>
                <a:pPr marL="1085850" lvl="2" indent="-285750">
                  <a:lnSpc>
                    <a:spcPct val="0"/>
                  </a:lnSpc>
                  <a:spcBef>
                    <a:spcPts val="18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𝑢</m:t>
                        </m:r>
                      </m:sup>
                    </m:sSubSup>
                  </m:oMath>
                </a14:m>
                <a:r>
                  <a:rPr lang="en-US" altLang="zh-CN" sz="1200" dirty="0" smtClean="0">
                    <a:ea typeface="微软雅黑" panose="020B0503020204020204" pitchFamily="34" charset="-122"/>
                    <a:cs typeface="+mn-lt"/>
                  </a:rPr>
                  <a:t>: unit payment for courier </a:t>
                </a:r>
                <a:r>
                  <a:rPr lang="en-US" altLang="zh-CN" sz="1200" i="1" dirty="0" smtClean="0">
                    <a:ea typeface="微软雅黑" panose="020B0503020204020204" pitchFamily="34" charset="-122"/>
                    <a:cs typeface="+mn-lt"/>
                  </a:rPr>
                  <a:t>i</a:t>
                </a:r>
                <a:r>
                  <a:rPr lang="en-US" altLang="zh-CN" sz="1200" dirty="0" smtClean="0">
                    <a:ea typeface="微软雅黑" panose="020B0503020204020204" pitchFamily="34" charset="-122"/>
                    <a:cs typeface="+mn-lt"/>
                  </a:rPr>
                  <a:t> at time </a:t>
                </a:r>
                <a:r>
                  <a:rPr lang="en-US" altLang="zh-CN" sz="1200" i="1" dirty="0" smtClean="0">
                    <a:ea typeface="微软雅黑" panose="020B0503020204020204" pitchFamily="34" charset="-122"/>
                    <a:cs typeface="+mn-lt"/>
                  </a:rPr>
                  <a:t>t</a:t>
                </a:r>
                <a:endParaRPr lang="en-US" altLang="zh-CN" sz="1200" dirty="0" smtClean="0">
                  <a:ea typeface="微软雅黑" panose="020B0503020204020204" pitchFamily="34" charset="-122"/>
                  <a:cs typeface="+mn-lt"/>
                </a:endParaRPr>
              </a:p>
              <a:p>
                <a:pPr marL="1085850" lvl="2" indent="-285750">
                  <a:lnSpc>
                    <a:spcPct val="0"/>
                  </a:lnSpc>
                  <a:spcBef>
                    <a:spcPts val="18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𝜁</m:t>
                        </m:r>
                      </m:e>
                      <m:sub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200" dirty="0" smtClean="0">
                    <a:ea typeface="微软雅黑" panose="020B0503020204020204" pitchFamily="34" charset="-122"/>
                    <a:cs typeface="+mn-lt"/>
                  </a:rPr>
                  <a:t>: behavior of courier </a:t>
                </a:r>
                <a:r>
                  <a:rPr lang="en-US" altLang="zh-CN" sz="1200" i="1" dirty="0" smtClean="0">
                    <a:ea typeface="微软雅黑" panose="020B0503020204020204" pitchFamily="34" charset="-122"/>
                    <a:cs typeface="+mn-lt"/>
                  </a:rPr>
                  <a:t>i</a:t>
                </a:r>
                <a:r>
                  <a:rPr lang="en-US" altLang="zh-CN" sz="1200" dirty="0" smtClean="0">
                    <a:ea typeface="微软雅黑" panose="020B0503020204020204" pitchFamily="34" charset="-122"/>
                    <a:cs typeface="+mn-lt"/>
                  </a:rPr>
                  <a:t> at time </a:t>
                </a:r>
                <a:r>
                  <a:rPr lang="en-US" altLang="zh-CN" sz="1200" i="1" dirty="0" smtClean="0">
                    <a:ea typeface="微软雅黑" panose="020B0503020204020204" pitchFamily="34" charset="-122"/>
                    <a:cs typeface="+mn-lt"/>
                  </a:rPr>
                  <a:t>t</a:t>
                </a:r>
                <a:r>
                  <a:rPr lang="en-US" altLang="zh-CN" sz="1200" dirty="0" smtClean="0">
                    <a:ea typeface="微软雅黑" panose="020B0503020204020204" pitchFamily="34" charset="-122"/>
                    <a:cs typeface="+mn-lt"/>
                  </a:rPr>
                  <a:t> (</a:t>
                </a:r>
                <a:r>
                  <a:rPr lang="en-US" altLang="zh-CN" sz="1200" i="1" dirty="0" smtClean="0">
                    <a:ea typeface="微软雅黑" panose="020B0503020204020204" pitchFamily="34" charset="-122"/>
                    <a:cs typeface="+mn-lt"/>
                  </a:rPr>
                  <a:t>1</a:t>
                </a:r>
                <a:r>
                  <a:rPr lang="en-US" altLang="zh-CN" sz="1200" dirty="0" smtClean="0">
                    <a:ea typeface="微软雅黑" panose="020B0503020204020204" pitchFamily="34" charset="-122"/>
                    <a:cs typeface="+mn-lt"/>
                  </a:rPr>
                  <a:t> represents acceptance and </a:t>
                </a:r>
                <a:r>
                  <a:rPr lang="en-US" altLang="zh-CN" sz="1200" i="1" dirty="0" smtClean="0">
                    <a:ea typeface="微软雅黑" panose="020B0503020204020204" pitchFamily="34" charset="-122"/>
                    <a:cs typeface="+mn-lt"/>
                  </a:rPr>
                  <a:t>0</a:t>
                </a:r>
                <a:r>
                  <a:rPr lang="en-US" altLang="zh-CN" sz="1200" dirty="0" smtClean="0">
                    <a:ea typeface="微软雅黑" panose="020B0503020204020204" pitchFamily="34" charset="-122"/>
                    <a:cs typeface="+mn-lt"/>
                  </a:rPr>
                  <a:t> represents rejection)</a:t>
                </a:r>
                <a:endParaRPr lang="en-US" altLang="zh-CN" sz="1200" dirty="0" smtClean="0">
                  <a:ea typeface="微软雅黑" panose="020B0503020204020204" pitchFamily="34" charset="-122"/>
                  <a:cs typeface="+mn-lt"/>
                </a:endParaRPr>
              </a:p>
              <a:p>
                <a:pPr marL="1085850" lvl="2" indent="-285750">
                  <a:lnSpc>
                    <a:spcPct val="0"/>
                  </a:lnSpc>
                  <a:spcBef>
                    <a:spcPts val="18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200" dirty="0" smtClean="0">
                    <a:ea typeface="微软雅黑" panose="020B0503020204020204" pitchFamily="34" charset="-122"/>
                    <a:cs typeface="+mn-lt"/>
                  </a:rPr>
                  <a:t>η: update rate</a:t>
                </a:r>
                <a:endParaRPr lang="en-US" altLang="zh-CN" sz="1200" dirty="0" smtClean="0">
                  <a:ea typeface="微软雅黑" panose="020B0503020204020204" pitchFamily="34" charset="-122"/>
                  <a:cs typeface="+mn-lt"/>
                </a:endParaRPr>
              </a:p>
              <a:p>
                <a:pPr marL="628650" lvl="1" indent="-285750">
                  <a:lnSpc>
                    <a:spcPct val="90000"/>
                  </a:lnSpc>
                  <a:spcBef>
                    <a:spcPts val="1800"/>
                  </a:spcBef>
                  <a:buFont typeface="Wingdings" panose="05000000000000000000" pitchFamily="2" charset="2"/>
                  <a:buChar char="Ø"/>
                </a:pPr>
                <a:r>
                  <a:rPr lang="en-US" altLang="zh-CN" sz="1200" dirty="0" smtClean="0">
                    <a:ea typeface="微软雅黑" panose="020B0503020204020204" pitchFamily="34" charset="-122"/>
                    <a:cs typeface="+mn-lt"/>
                  </a:rPr>
                  <a:t>Platforms can classify couriers based on the mean value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lang="en-US" altLang="zh-CN" sz="1200" dirty="0" smtClean="0">
                    <a:ea typeface="微软雅黑" panose="020B0503020204020204" pitchFamily="34" charset="-122"/>
                    <a:cs typeface="+mn-lt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lang="en-US" altLang="zh-CN" sz="1200" dirty="0" smtClean="0">
                    <a:ea typeface="微软雅黑" panose="020B0503020204020204" pitchFamily="34" charset="-122"/>
                    <a:cs typeface="+mn-lt"/>
                  </a:rPr>
                  <a:t> (i.e.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120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20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US" altLang="zh-CN" sz="120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120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20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US" altLang="zh-CN" sz="120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num>
                      <m:den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1200" dirty="0" smtClean="0">
                    <a:ea typeface="微软雅黑" panose="020B0503020204020204" pitchFamily="34" charset="-122"/>
                    <a:cs typeface="+mn-lt"/>
                  </a:rPr>
                  <a:t>).</a:t>
                </a:r>
                <a:endParaRPr lang="en-US" altLang="zh-CN" dirty="0" smtClean="0">
                  <a:ea typeface="微软雅黑" panose="020B0503020204020204" pitchFamily="34" charset="-122"/>
                  <a:cs typeface="+mn-lt"/>
                </a:endParaRP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50" y="675005"/>
                <a:ext cx="8001000" cy="390715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555" y="2226310"/>
            <a:ext cx="3096895" cy="6883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46"/>
          <p:cNvSpPr>
            <a:spLocks noChangeArrowheads="1"/>
          </p:cNvSpPr>
          <p:nvPr/>
        </p:nvSpPr>
        <p:spPr bwMode="auto">
          <a:xfrm>
            <a:off x="501585" y="208991"/>
            <a:ext cx="3143250" cy="397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l">
              <a:buNone/>
            </a:pPr>
            <a:r>
              <a:rPr lang="en-US" altLang="zh-CN" sz="2000" b="1" dirty="0" smtClean="0">
                <a:solidFill>
                  <a:srgbClr val="002060"/>
                </a:solidFill>
                <a:latin typeface="Arial" panose="020B0604020202020204" pitchFamily="34" charset="0"/>
                <a:sym typeface="+mn-ea"/>
              </a:rPr>
              <a:t>Model for Platform: MDP</a:t>
            </a:r>
            <a:endParaRPr lang="zh-CN" altLang="en-US" sz="20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27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501650" y="675005"/>
                <a:ext cx="8461375" cy="169608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altLang="zh-CN" b="1" dirty="0" smtClean="0">
                    <a:latin typeface="Arial" panose="020B0604020202020204" pitchFamily="34" charset="0"/>
                    <a:ea typeface="微软雅黑" panose="020B0503020204020204" pitchFamily="34" charset="-122"/>
                  </a:rPr>
                  <a:t>Action:</a:t>
                </a:r>
                <a:r>
                  <a:rPr lang="en-US" altLang="zh-CN" dirty="0" smtClean="0">
                    <a:latin typeface="Arial" panose="020B0604020202020204" pitchFamily="34" charset="0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|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𝑖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∈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𝐼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pPr marL="628650" lvl="1" indent="-285750">
                  <a:lnSpc>
                    <a:spcPct val="10000"/>
                  </a:lnSpc>
                  <a:spcBef>
                    <a:spcPts val="1800"/>
                  </a:spcBef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2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2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2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sz="1200" i="1" dirty="0" smtClean="0">
                    <a:latin typeface="Cambria Math" panose="02040503050406030204" pitchFamily="18" charset="0"/>
                    <a:ea typeface="微软雅黑" panose="020B0503020204020204" pitchFamily="34" charset="-122"/>
                    <a:cs typeface="Cambria Math" panose="02040503050406030204" pitchFamily="18" charset="0"/>
                  </a:rPr>
                  <a:t> </a:t>
                </a:r>
                <a:r>
                  <a:rPr lang="en-US" altLang="zh-CN" sz="1200" dirty="0" smtClean="0">
                    <a:latin typeface="Cambria Math" panose="02040503050406030204" pitchFamily="18" charset="0"/>
                    <a:ea typeface="微软雅黑" panose="020B0503020204020204" pitchFamily="34" charset="-122"/>
                    <a:cs typeface="Cambria Math" panose="02040503050406030204" pitchFamily="18" charset="0"/>
                  </a:rPr>
                  <a:t>represents the action for courier </a:t>
                </a:r>
                <a:r>
                  <a:rPr lang="en-US" altLang="zh-CN" sz="1200" i="1" dirty="0" smtClean="0">
                    <a:latin typeface="Cambria Math" panose="02040503050406030204" pitchFamily="18" charset="0"/>
                    <a:ea typeface="微软雅黑" panose="020B0503020204020204" pitchFamily="34" charset="-122"/>
                    <a:cs typeface="Cambria Math" panose="02040503050406030204" pitchFamily="18" charset="0"/>
                  </a:rPr>
                  <a:t>i</a:t>
                </a:r>
                <a:r>
                  <a:rPr lang="en-US" altLang="zh-CN" sz="1200" dirty="0" smtClean="0">
                    <a:latin typeface="Cambria Math" panose="02040503050406030204" pitchFamily="18" charset="0"/>
                    <a:ea typeface="微软雅黑" panose="020B0503020204020204" pitchFamily="34" charset="-122"/>
                    <a:cs typeface="Cambria Math" panose="02040503050406030204" pitchFamily="18" charset="0"/>
                  </a:rPr>
                  <a:t>  at time </a:t>
                </a:r>
                <a:r>
                  <a:rPr lang="en-US" altLang="zh-CN" sz="1200" i="1" dirty="0" smtClean="0">
                    <a:latin typeface="Cambria Math" panose="02040503050406030204" pitchFamily="18" charset="0"/>
                    <a:ea typeface="微软雅黑" panose="020B0503020204020204" pitchFamily="34" charset="-122"/>
                    <a:cs typeface="Cambria Math" panose="02040503050406030204" pitchFamily="18" charset="0"/>
                  </a:rPr>
                  <a:t>t</a:t>
                </a:r>
                <a:endParaRPr lang="en-US" altLang="zh-CN" sz="1200" dirty="0" smtClean="0">
                  <a:latin typeface="Cambria Math" panose="02040503050406030204" pitchFamily="18" charset="0"/>
                  <a:ea typeface="微软雅黑" panose="020B0503020204020204" pitchFamily="34" charset="-122"/>
                  <a:cs typeface="Cambria Math" panose="02040503050406030204" pitchFamily="18" charset="0"/>
                </a:endParaRPr>
              </a:p>
              <a:p>
                <a:pPr marL="628650" lvl="1" indent="-285750">
                  <a:lnSpc>
                    <a:spcPct val="10000"/>
                  </a:lnSpc>
                  <a:spcBef>
                    <a:spcPts val="1800"/>
                  </a:spcBef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+mn-ea"/>
                  </a:rPr>
                  <a:t>: decision vector indicating which orders are assigned to courier </a:t>
                </a:r>
                <a:r>
                  <a:rPr lang="en-US" altLang="zh-CN" sz="1200" i="1" dirty="0">
                    <a:latin typeface="Arial" panose="020B0604020202020204" pitchFamily="34" charset="0"/>
                    <a:ea typeface="微软雅黑" panose="020B0503020204020204" pitchFamily="34" charset="-122"/>
                    <a:sym typeface="+mn-ea"/>
                  </a:rPr>
                  <a:t>i</a:t>
                </a: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+mn-ea"/>
                  </a:rPr>
                  <a:t> at time </a:t>
                </a:r>
                <a:r>
                  <a:rPr lang="en-US" altLang="zh-CN" sz="1200" i="1" dirty="0">
                    <a:latin typeface="Arial" panose="020B0604020202020204" pitchFamily="34" charset="0"/>
                    <a:ea typeface="微软雅黑" panose="020B0503020204020204" pitchFamily="34" charset="-122"/>
                    <a:sym typeface="+mn-ea"/>
                  </a:rPr>
                  <a:t>t</a:t>
                </a:r>
                <a:endParaRPr lang="en-US" altLang="zh-CN" sz="1200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pPr marL="971550" lvl="2" indent="-171450">
                  <a:lnSpc>
                    <a:spcPct val="10000"/>
                  </a:lnSpc>
                  <a:spcBef>
                    <a:spcPts val="18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2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[</m:t>
                    </m:r>
                    <m:r>
                      <a:rPr lang="en-US" altLang="zh-CN" sz="12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𝑗</m:t>
                    </m:r>
                    <m:r>
                      <a:rPr lang="en-US" altLang="zh-CN" sz="12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]=</m:t>
                    </m:r>
                    <m:r>
                      <a:rPr lang="en-US" altLang="zh-CN" sz="12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+mn-ea"/>
                  </a:rPr>
                  <a:t> indicates order </a:t>
                </a:r>
                <a:r>
                  <a:rPr lang="en-US" altLang="zh-CN" sz="1200" i="1" dirty="0">
                    <a:latin typeface="Arial" panose="020B0604020202020204" pitchFamily="34" charset="0"/>
                    <a:ea typeface="微软雅黑" panose="020B0503020204020204" pitchFamily="34" charset="-122"/>
                    <a:sym typeface="+mn-ea"/>
                  </a:rPr>
                  <a:t>j</a:t>
                </a: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+mn-ea"/>
                  </a:rPr>
                  <a:t> is assigned to courier </a:t>
                </a:r>
                <a:r>
                  <a:rPr lang="en-US" altLang="zh-CN" sz="1200" i="1" dirty="0">
                    <a:latin typeface="Arial" panose="020B0604020202020204" pitchFamily="34" charset="0"/>
                    <a:ea typeface="微软雅黑" panose="020B0503020204020204" pitchFamily="34" charset="-122"/>
                    <a:sym typeface="+mn-ea"/>
                  </a:rPr>
                  <a:t>i</a:t>
                </a: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+mn-ea"/>
                  </a:rPr>
                  <a:t> </a:t>
                </a:r>
                <a:endParaRPr lang="en-US" altLang="zh-CN" sz="1200" dirty="0" smtClean="0">
                  <a:latin typeface="Cambria Math" panose="02040503050406030204" pitchFamily="18" charset="0"/>
                  <a:ea typeface="微软雅黑" panose="020B0503020204020204" pitchFamily="34" charset="-122"/>
                  <a:cs typeface="Cambria Math" panose="02040503050406030204" pitchFamily="18" charset="0"/>
                </a:endParaRPr>
              </a:p>
              <a:p>
                <a:pPr marL="628650" lvl="1" indent="-285750">
                  <a:lnSpc>
                    <a:spcPct val="10000"/>
                  </a:lnSpc>
                  <a:spcBef>
                    <a:spcPts val="1800"/>
                  </a:spcBef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: payment to courier </a:t>
                </a:r>
                <a:r>
                  <a:rPr lang="en-US" altLang="zh-CN" sz="1200" i="1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i</a:t>
                </a: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 at time </a:t>
                </a:r>
                <a:r>
                  <a:rPr lang="en-US" altLang="zh-CN" sz="1200" i="1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t</a:t>
                </a:r>
                <a:endParaRPr lang="en-US" altLang="zh-CN" sz="1200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pPr marL="342900" lvl="2">
                  <a:lnSpc>
                    <a:spcPct val="150000"/>
                  </a:lnSpc>
                </a:pPr>
                <a:endParaRPr lang="en-US" altLang="zh-CN" sz="1200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endParaRPr lang="en-US" altLang="zh-CN" dirty="0" smtClean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50" y="675005"/>
                <a:ext cx="8461375" cy="1696085"/>
              </a:xfrm>
              <a:prstGeom prst="rect">
                <a:avLst/>
              </a:prstGeom>
              <a:blipFill rotWithShape="1">
                <a:blip r:embed="rId1"/>
                <a:stretch>
                  <a:fillRect b="-86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6"/>
              <p:cNvSpPr txBox="1"/>
              <p:nvPr/>
            </p:nvSpPr>
            <p:spPr>
              <a:xfrm>
                <a:off x="541020" y="2113280"/>
                <a:ext cx="7602220" cy="286448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altLang="zh-CN" b="1" dirty="0" smtClean="0">
                    <a:latin typeface="Arial" panose="020B0604020202020204" pitchFamily="34" charset="0"/>
                    <a:ea typeface="微软雅黑" panose="020B0503020204020204" pitchFamily="34" charset="-122"/>
                  </a:rPr>
                  <a:t>Reward Function:</a:t>
                </a:r>
                <a:endParaRPr lang="en-US" altLang="zh-CN" b="1" dirty="0" smtClean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endParaRPr lang="en-US" altLang="zh-CN" dirty="0" smtClean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endParaRPr lang="en-US" altLang="zh-CN" dirty="0" smtClean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endParaRPr lang="en-US" altLang="zh-CN" dirty="0" smtClean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endParaRPr lang="en-US" altLang="zh-CN" dirty="0" smtClean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pPr marL="742950" lvl="1" indent="-285750">
                  <a:lnSpc>
                    <a:spcPct val="130000"/>
                  </a:lnSpc>
                  <a:buFont typeface="Wingdings" panose="05000000000000000000" charset="0"/>
                  <a:buChar char="Ø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: global reward at time </a:t>
                </a:r>
                <a:r>
                  <a:rPr lang="en-US" altLang="zh-CN" sz="1200" i="1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t</a:t>
                </a: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: reward for courier </a:t>
                </a:r>
                <a:r>
                  <a:rPr lang="en-US" altLang="zh-CN" sz="1200" i="1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i</a:t>
                </a: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 at time </a:t>
                </a:r>
                <a:r>
                  <a:rPr lang="en-US" altLang="zh-CN" sz="1200" i="1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t</a:t>
                </a: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𝑤</m:t>
                        </m:r>
                      </m:sup>
                    </m:sSubSup>
                  </m:oMath>
                </a14:m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: </a:t>
                </a:r>
                <a:r>
                  <a:rPr lang="en-US" altLang="zh-CN" sz="1200" dirty="0" smtClean="0">
                    <a:latin typeface="Cambria Math" panose="02040503050406030204" pitchFamily="18" charset="0"/>
                    <a:ea typeface="微软雅黑" panose="020B0503020204020204" pitchFamily="34" charset="-122"/>
                    <a:sym typeface="+mn-ea"/>
                  </a:rPr>
                  <a:t>set of working courier indices</a:t>
                </a:r>
                <a:endParaRPr lang="en-US" altLang="zh-CN" sz="1200" dirty="0" smtClean="0">
                  <a:latin typeface="Cambria Math" panose="02040503050406030204" pitchFamily="18" charset="0"/>
                  <a:ea typeface="微软雅黑" panose="020B0503020204020204" pitchFamily="34" charset="-122"/>
                  <a:sym typeface="+mn-ea"/>
                </a:endParaRPr>
              </a:p>
              <a:p>
                <a:pPr marL="742950" lvl="1" indent="-285750">
                  <a:lnSpc>
                    <a:spcPct val="130000"/>
                  </a:lnSpc>
                  <a:buFont typeface="Wingdings" panose="05000000000000000000" charset="0"/>
                  <a:buChar char="Ø"/>
                </a:pP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β: positive weights </a:t>
                </a:r>
                <a:endParaRPr lang="en-US" altLang="zh-CN" sz="1200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pPr marL="742950" lvl="1" indent="-285750">
                  <a:lnSpc>
                    <a:spcPct val="120000"/>
                  </a:lnSpc>
                  <a:buFont typeface="Wingdings" panose="05000000000000000000" charset="0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zh-CN" sz="12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: trip distance of oredr </a:t>
                </a:r>
                <a:r>
                  <a:rPr lang="en-US" altLang="zh-CN" sz="1200" i="1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j</a:t>
                </a: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altLang="zh-CN" sz="12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200" i="1" u="heavy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12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:  the number of en-route orders for courier </a:t>
                </a:r>
                <a:r>
                  <a:rPr lang="en-US" altLang="zh-CN" sz="1200" i="1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i</a:t>
                </a: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 at time </a:t>
                </a:r>
                <a:r>
                  <a:rPr lang="en-US" altLang="zh-CN" sz="1200" i="1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t</a:t>
                </a: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 that will exceed their expected time;</a:t>
                </a:r>
                <a14:m>
                  <m:oMath xmlns:m="http://schemas.openxmlformats.org/officeDocument/2006/math">
                    <m:r>
                      <a:rPr lang="en-US" altLang="zh-CN" sz="1200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sSub>
                      <m:sSubPr>
                        <m:ctrlPr>
                          <a:rPr lang="en-US" altLang="zh-CN" sz="12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sz="12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200" i="1" u="heavy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12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+mn-ea"/>
                  </a:rPr>
                  <a:t>: </a:t>
                </a: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additional travel time of all en-route orders for courier </a:t>
                </a:r>
                <a:r>
                  <a:rPr lang="en-US" altLang="zh-CN" sz="1200" i="1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i</a:t>
                </a: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 at time </a:t>
                </a:r>
                <a:r>
                  <a:rPr lang="en-US" altLang="zh-CN" sz="1200" i="1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t</a:t>
                </a:r>
                <a:endParaRPr lang="en-US" altLang="zh-CN" sz="1200" i="1" dirty="0" smtClean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2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20" y="2113280"/>
                <a:ext cx="7602220" cy="286448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855" y="2536190"/>
            <a:ext cx="3857625" cy="6750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855" y="3144520"/>
            <a:ext cx="6489700" cy="6635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46"/>
          <p:cNvSpPr>
            <a:spLocks noChangeArrowheads="1"/>
          </p:cNvSpPr>
          <p:nvPr/>
        </p:nvSpPr>
        <p:spPr bwMode="auto">
          <a:xfrm>
            <a:off x="501650" y="208915"/>
            <a:ext cx="5972175" cy="397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l">
              <a:buNone/>
            </a:pPr>
            <a:r>
              <a:rPr lang="en-US" altLang="zh-CN" sz="2000" b="1" dirty="0" smtClean="0">
                <a:solidFill>
                  <a:srgbClr val="002060"/>
                </a:solidFill>
                <a:latin typeface="Arial" panose="020B0604020202020204" pitchFamily="34" charset="0"/>
                <a:sym typeface="+mn-ea"/>
              </a:rPr>
              <a:t>Model for Couriers: Logit Model &amp; CMAB</a:t>
            </a:r>
            <a:endParaRPr lang="zh-CN" altLang="en-US" sz="20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27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501650" y="675005"/>
                <a:ext cx="8357870" cy="407225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altLang="zh-CN" b="1" dirty="0" smtClean="0">
                    <a:latin typeface="Arial" panose="020B0604020202020204" pitchFamily="34" charset="0"/>
                    <a:ea typeface="微软雅黑" panose="020B0503020204020204" pitchFamily="34" charset="-122"/>
                  </a:rPr>
                  <a:t>Short-term Decision -- Logit Model:</a:t>
                </a:r>
                <a:endParaRPr lang="en-US" altLang="zh-CN" b="1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pPr marL="628650" lvl="1" indent="-285750">
                  <a:lnSpc>
                    <a:spcPct val="150000"/>
                  </a:lnSpc>
                  <a:spcBef>
                    <a:spcPts val="1800"/>
                  </a:spcBef>
                  <a:buFont typeface="Wingdings" panose="05000000000000000000" pitchFamily="2" charset="2"/>
                  <a:buChar char="Ø"/>
                </a:pPr>
                <a:endParaRPr lang="en-US" altLang="zh-CN" sz="1200" i="1" dirty="0" smtClean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 marL="628650" lvl="1" indent="-285750">
                  <a:lnSpc>
                    <a:spcPct val="150000"/>
                  </a:lnSpc>
                  <a:spcBef>
                    <a:spcPts val="1800"/>
                  </a:spcBef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sz="12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𝑃</m:t>
                        </m:r>
                      </m:e>
                      <m:sub>
                        <m:r>
                          <a:rPr lang="en-US" altLang="zh-CN" sz="12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  <m:sup>
                        <m:r>
                          <a:rPr lang="en-US" altLang="zh-CN" sz="12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sup>
                    </m:sSubSup>
                    <m:r>
                      <a:rPr lang="en-US" altLang="zh-CN" sz="120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:</m:t>
                    </m:r>
                  </m:oMath>
                </a14:m>
                <a:r>
                  <a:rPr lang="en-US" altLang="zh-CN" sz="1200" dirty="0" smtClean="0">
                    <a:latin typeface="Arial" panose="020B0604020202020204" pitchFamily="34" charset="0"/>
                    <a:ea typeface="微软雅黑" panose="020B0503020204020204" pitchFamily="34" charset="-122"/>
                  </a:rPr>
                  <a:t> order acceptance probability of courier </a:t>
                </a:r>
                <a:r>
                  <a:rPr lang="en-US" altLang="zh-CN" sz="1200" i="1" dirty="0" smtClean="0">
                    <a:latin typeface="Arial" panose="020B0604020202020204" pitchFamily="34" charset="0"/>
                    <a:ea typeface="微软雅黑" panose="020B0503020204020204" pitchFamily="34" charset="-122"/>
                  </a:rPr>
                  <a:t>i</a:t>
                </a:r>
                <a:endParaRPr lang="en-US" altLang="zh-CN" sz="1200" dirty="0" smtClean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pPr marL="628650" lvl="1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sz="12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𝑢</m:t>
                        </m:r>
                      </m:e>
                      <m:sub>
                        <m:r>
                          <a:rPr lang="en-US" altLang="zh-CN" sz="12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  <m:r>
                          <a:rPr lang="en-US" altLang="zh-CN" sz="12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12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sub>
                      <m:sup>
                        <m:r>
                          <a:rPr lang="en-US" altLang="zh-CN" sz="12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sup>
                    </m:sSubSup>
                  </m:oMath>
                </a14:m>
                <a:r>
                  <a:rPr lang="en-US" altLang="zh-CN" sz="1200" dirty="0" smtClean="0">
                    <a:latin typeface="Arial" panose="020B0604020202020204" pitchFamily="34" charset="0"/>
                    <a:ea typeface="微软雅黑" panose="020B0503020204020204" pitchFamily="34" charset="-122"/>
                  </a:rPr>
                  <a:t>: utility of accepting the order, </a:t>
                </a:r>
                <a:r>
                  <a:rPr lang="en-US" altLang="zh-CN" sz="1200" dirty="0" smtClean="0">
                    <a:solidFill>
                      <a:srgbClr val="2F5597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rPr>
                  <a:t>proportional to payment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dirty="0" smtClean="0">
                            <a:solidFill>
                              <a:srgbClr val="2F5597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 dirty="0" smtClean="0">
                            <a:solidFill>
                              <a:srgbClr val="2F5597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200" i="1" dirty="0" smtClean="0">
                            <a:solidFill>
                              <a:srgbClr val="2F5597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200" i="1" dirty="0" smtClean="0">
                            <a:solidFill>
                              <a:srgbClr val="2F5597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i="1" dirty="0" smtClean="0">
                            <a:solidFill>
                              <a:srgbClr val="2F5597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200" dirty="0" smtClean="0">
                    <a:latin typeface="Arial" panose="020B0604020202020204" pitchFamily="34" charset="0"/>
                    <a:ea typeface="微软雅黑" panose="020B0503020204020204" pitchFamily="34" charset="-122"/>
                  </a:rPr>
                  <a:t>, </a:t>
                </a:r>
                <a:r>
                  <a:rPr lang="en-US" altLang="zh-CN" sz="1200" dirty="0" smtClean="0">
                    <a:solidFill>
                      <a:srgbClr val="C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rPr>
                  <a:t>inversely proportional to reservation value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sz="1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𝑝</m:t>
                        </m:r>
                      </m:e>
                      <m:sub>
                        <m:r>
                          <a:rPr lang="en-US" altLang="zh-CN" sz="1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  <m:sup>
                        <m:r>
                          <a:rPr lang="en-US" altLang="zh-CN" sz="1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𝑟</m:t>
                        </m:r>
                      </m:sup>
                    </m:sSubSup>
                  </m:oMath>
                </a14:m>
                <a:r>
                  <a:rPr lang="en-US" altLang="zh-CN" sz="1200" dirty="0" smtClean="0">
                    <a:latin typeface="Arial" panose="020B0604020202020204" pitchFamily="34" charset="0"/>
                    <a:ea typeface="微软雅黑" panose="020B0503020204020204" pitchFamily="34" charset="-122"/>
                  </a:rPr>
                  <a:t> </a:t>
                </a:r>
                <a:endParaRPr lang="en-US" altLang="zh-CN" sz="1200" dirty="0" smtClean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pPr marL="628650" lvl="1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sz="12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𝑢</m:t>
                        </m:r>
                      </m:e>
                      <m:sub>
                        <m:r>
                          <a:rPr lang="en-US" altLang="zh-CN" sz="12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  <m:sup>
                        <m:r>
                          <a:rPr lang="en-US" altLang="zh-CN" sz="12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𝑟</m:t>
                        </m:r>
                      </m:sup>
                    </m:sSubSup>
                  </m:oMath>
                </a14:m>
                <a:r>
                  <a:rPr lang="en-US" altLang="zh-CN" sz="1200" dirty="0" smtClean="0">
                    <a:latin typeface="Arial" panose="020B0604020202020204" pitchFamily="34" charset="0"/>
                    <a:ea typeface="微软雅黑" panose="020B0503020204020204" pitchFamily="34" charset="-122"/>
                    <a:sym typeface="+mn-ea"/>
                  </a:rPr>
                  <a:t>: utility of rejecting the order</a:t>
                </a:r>
                <a:endParaRPr lang="en-US" altLang="zh-CN" sz="1200" dirty="0" smtClean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endParaRPr lang="en-US" altLang="zh-CN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en-US" altLang="zh-CN" b="1" dirty="0" smtClean="0">
                    <a:latin typeface="Arial" panose="020B0604020202020204" pitchFamily="34" charset="0"/>
                    <a:ea typeface="微软雅黑" panose="020B0503020204020204" pitchFamily="34" charset="-122"/>
                    <a:sym typeface="+mn-ea"/>
                  </a:rPr>
                  <a:t>Long-term Decision -- Contextual Multi-Armed Bandits (CMAB)</a:t>
                </a:r>
                <a:r>
                  <a:rPr lang="zh-CN" altLang="en-US" b="1" dirty="0" smtClean="0">
                    <a:latin typeface="Arial" panose="020B0604020202020204" pitchFamily="34" charset="0"/>
                    <a:ea typeface="微软雅黑" panose="020B0503020204020204" pitchFamily="34" charset="-122"/>
                  </a:rPr>
                  <a:t>：</a:t>
                </a:r>
                <a:endParaRPr lang="en-US" altLang="zh-CN" b="1" i="1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 marL="628650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endParaRPr lang="en-US" altLang="zh-CN" sz="1200" i="1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 marL="628650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endParaRPr lang="en-US" altLang="zh-CN" sz="1200" i="1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 marL="628650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endParaRPr lang="en-US" altLang="zh-CN" sz="1200" i="1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 marL="628650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lang="en-US" altLang="zh-CN" sz="1200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200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altLang="zh-CN" sz="12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12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: information  of courier </a:t>
                </a:r>
                <a:r>
                  <a:rPr lang="en-US" altLang="zh-CN" sz="1200" i="1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i</a:t>
                </a: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 at episode </a:t>
                </a:r>
                <a:r>
                  <a:rPr lang="en-US" altLang="zh-CN" sz="1200" i="1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k</a:t>
                </a: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, including the reservation value, initial location, and platform strategy</a:t>
                </a:r>
                <a:endParaRPr lang="en-US" altLang="zh-CN" sz="1200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pPr marL="628650" lvl="1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lang="en-US" altLang="zh-CN" sz="1200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200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CN" sz="12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12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：</a:t>
                </a: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action of courier </a:t>
                </a:r>
                <a:r>
                  <a:rPr lang="en-US" altLang="zh-CN" sz="1200" i="1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i</a:t>
                </a: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 at episode </a:t>
                </a:r>
                <a:r>
                  <a:rPr lang="en-US" altLang="zh-CN" sz="1200" i="1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k</a:t>
                </a: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, including opt-in, opt-out, and exit</a:t>
                </a:r>
                <a:endParaRPr lang="zh-CN" altLang="en-US" sz="1200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pPr marL="628650" lvl="1" indent="-285750">
                  <a:buFont typeface="Wingdings" panose="05000000000000000000" pitchFamily="2" charset="2"/>
                  <a:buChar char="Ø"/>
                </a:pP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Opt-in/Opt-out reward: the accumulative income over the entire period (episode)</a:t>
                </a:r>
                <a:endParaRPr lang="en-US" altLang="zh-CN" sz="1200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pPr marL="628650" lvl="1" indent="-285750">
                  <a:buFont typeface="Wingdings" panose="05000000000000000000" pitchFamily="2" charset="2"/>
                  <a:buChar char="Ø"/>
                </a:pP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Exit reward: a fixed utility (varying among periods)</a:t>
                </a:r>
                <a:endParaRPr lang="en-US" altLang="zh-CN" sz="1200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endParaRPr lang="en-US" altLang="zh-CN" dirty="0" smtClean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50" y="675005"/>
                <a:ext cx="8357870" cy="4072255"/>
              </a:xfrm>
              <a:prstGeom prst="rect">
                <a:avLst/>
              </a:prstGeom>
              <a:blipFill rotWithShape="1">
                <a:blip r:embed="rId1"/>
                <a:stretch>
                  <a:fillRect b="-7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3253740" y="357505"/>
            <a:ext cx="30480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340" y="1069340"/>
            <a:ext cx="2497455" cy="69659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340" y="3011805"/>
            <a:ext cx="4262120" cy="6388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12" name="矩形 46"/>
          <p:cNvSpPr>
            <a:spLocks noChangeArrowheads="1"/>
          </p:cNvSpPr>
          <p:nvPr/>
        </p:nvSpPr>
        <p:spPr bwMode="auto">
          <a:xfrm>
            <a:off x="501585" y="170891"/>
            <a:ext cx="5293995" cy="490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30000"/>
              </a:lnSpc>
              <a:buNone/>
            </a:pPr>
            <a:r>
              <a:rPr lang="en-US" altLang="zh-CN" sz="2000" b="1" dirty="0">
                <a:solidFill>
                  <a:schemeClr val="accent1"/>
                </a:solidFill>
                <a:latin typeface="Arial" panose="020B0604020202020204" pitchFamily="34" charset="0"/>
              </a:rPr>
              <a:t>Solution Methodology for MDP of Platform</a:t>
            </a:r>
            <a:endParaRPr lang="en-US" altLang="zh-CN" sz="20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501650" y="586740"/>
            <a:ext cx="8412480" cy="44665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 smtClean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DDQN for Order Assignment</a:t>
            </a:r>
            <a:r>
              <a:rPr lang="en-US" altLang="zh-CN" b="1" dirty="0" smtClean="0"/>
              <a:t>:</a:t>
            </a:r>
            <a:endParaRPr lang="en-US" altLang="zh-CN" b="1" dirty="0"/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200" dirty="0" smtClean="0"/>
              <a:t>Summary: A neural network is employed to estimate the long-term reward (Q-value) for each courier selecting each order at each time step.</a:t>
            </a:r>
            <a:endParaRPr lang="en-US" altLang="zh-CN" sz="1200" dirty="0" smtClean="0"/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200" dirty="0" smtClean="0"/>
              <a:t>Utilization: Find the optimal dispatching strategy to maximize the global Q-value (long-term reward) at each step through bipartite matching.</a:t>
            </a:r>
            <a:endParaRPr lang="en-US" altLang="zh-CN" sz="1200" dirty="0" smtClean="0"/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200" dirty="0" smtClean="0"/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200" dirty="0" smtClean="0"/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200" dirty="0" smtClean="0"/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200" dirty="0" smtClean="0"/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200" dirty="0" smtClean="0"/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200" dirty="0" smtClean="0"/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200" dirty="0" smtClean="0"/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200" dirty="0" smtClean="0"/>
              <a:t>Training: gradient descent to minimize 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</a:rPr>
              <a:t>Temporal Difference (TD) error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125" y="2106295"/>
            <a:ext cx="2953385" cy="188849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665" y="4293870"/>
            <a:ext cx="6436360" cy="4495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4234180" y="2256790"/>
                <a:ext cx="4691380" cy="171831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285750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2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12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𝑖</m:t>
                    </m:r>
                    <m:r>
                      <a:rPr lang="en-US" altLang="zh-CN" sz="12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altLang="zh-CN" sz="12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𝑗</m:t>
                    </m:r>
                    <m:r>
                      <a:rPr lang="en-US" altLang="zh-CN" sz="12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200" dirty="0" smtClean="0">
                    <a:latin typeface="Arial" panose="020B0604020202020204" pitchFamily="34" charset="0"/>
                    <a:ea typeface="微软雅黑" panose="020B0503020204020204" pitchFamily="34" charset="-122"/>
                  </a:rPr>
                  <a:t>:  Q-value representing the value of assigning order </a:t>
                </a:r>
                <a:r>
                  <a:rPr lang="en-US" altLang="zh-CN" sz="1200" i="1" dirty="0" smtClean="0">
                    <a:latin typeface="Arial" panose="020B0604020202020204" pitchFamily="34" charset="0"/>
                    <a:ea typeface="微软雅黑" panose="020B0503020204020204" pitchFamily="34" charset="-122"/>
                  </a:rPr>
                  <a:t>j</a:t>
                </a:r>
                <a:r>
                  <a:rPr lang="en-US" altLang="zh-CN" sz="1200" dirty="0" smtClean="0">
                    <a:latin typeface="Arial" panose="020B0604020202020204" pitchFamily="34" charset="0"/>
                    <a:ea typeface="微软雅黑" panose="020B0503020204020204" pitchFamily="34" charset="-122"/>
                  </a:rPr>
                  <a:t> to courier </a:t>
                </a:r>
                <a:r>
                  <a:rPr lang="en-US" altLang="zh-CN" sz="1200" i="1" dirty="0" smtClean="0">
                    <a:latin typeface="Arial" panose="020B0604020202020204" pitchFamily="34" charset="0"/>
                    <a:ea typeface="微软雅黑" panose="020B0503020204020204" pitchFamily="34" charset="-122"/>
                  </a:rPr>
                  <a:t>i</a:t>
                </a:r>
                <a:r>
                  <a:rPr lang="en-US" altLang="zh-CN" sz="1200" dirty="0" smtClean="0">
                    <a:latin typeface="Arial" panose="020B0604020202020204" pitchFamily="34" charset="0"/>
                    <a:ea typeface="微软雅黑" panose="020B0503020204020204" pitchFamily="34" charset="-122"/>
                  </a:rPr>
                  <a:t> at time </a:t>
                </a:r>
                <a:r>
                  <a:rPr lang="en-US" altLang="zh-CN" sz="1200" i="1" dirty="0" smtClean="0">
                    <a:latin typeface="Arial" panose="020B0604020202020204" pitchFamily="34" charset="0"/>
                    <a:ea typeface="微软雅黑" panose="020B0503020204020204" pitchFamily="34" charset="-122"/>
                  </a:rPr>
                  <a:t>t</a:t>
                </a:r>
                <a:endParaRPr lang="en-US" altLang="zh-CN" sz="1200" dirty="0" smtClean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pPr marL="285750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1200" dirty="0" smtClean="0">
                    <a:latin typeface="Arial" panose="020B0604020202020204" pitchFamily="34" charset="0"/>
                    <a:ea typeface="微软雅黑" panose="020B0503020204020204" pitchFamily="34" charset="-122"/>
                  </a:rPr>
                  <a:t>: binary indicator for whether order </a:t>
                </a:r>
                <a:r>
                  <a:rPr lang="en-US" altLang="zh-CN" sz="1200" i="1" dirty="0" smtClean="0">
                    <a:latin typeface="Arial" panose="020B0604020202020204" pitchFamily="34" charset="0"/>
                    <a:ea typeface="微软雅黑" panose="020B0503020204020204" pitchFamily="34" charset="-122"/>
                  </a:rPr>
                  <a:t>j</a:t>
                </a:r>
                <a:r>
                  <a:rPr lang="en-US" altLang="zh-CN" sz="1200" dirty="0" smtClean="0">
                    <a:latin typeface="Arial" panose="020B0604020202020204" pitchFamily="34" charset="0"/>
                    <a:ea typeface="微软雅黑" panose="020B0503020204020204" pitchFamily="34" charset="-122"/>
                  </a:rPr>
                  <a:t> is assigned to courier </a:t>
                </a:r>
                <a:r>
                  <a:rPr lang="en-US" altLang="zh-CN" sz="1200" i="1" dirty="0" smtClean="0">
                    <a:latin typeface="Arial" panose="020B0604020202020204" pitchFamily="34" charset="0"/>
                    <a:ea typeface="微软雅黑" panose="020B0503020204020204" pitchFamily="34" charset="-122"/>
                  </a:rPr>
                  <a:t>i</a:t>
                </a:r>
                <a:r>
                  <a:rPr lang="en-US" altLang="zh-CN" sz="1200" dirty="0" smtClean="0">
                    <a:latin typeface="Arial" panose="020B0604020202020204" pitchFamily="34" charset="0"/>
                    <a:ea typeface="微软雅黑" panose="020B0503020204020204" pitchFamily="34" charset="-122"/>
                  </a:rPr>
                  <a:t> </a:t>
                </a:r>
                <a:endParaRPr lang="en-US" altLang="zh-CN" sz="1200" dirty="0" smtClean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pPr marL="285750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2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𝐷</m:t>
                    </m:r>
                    <m:r>
                      <a:rPr lang="en-US" altLang="zh-CN" sz="12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2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12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200" dirty="0" smtClean="0">
                    <a:latin typeface="Arial" panose="020B0604020202020204" pitchFamily="34" charset="0"/>
                    <a:ea typeface="微软雅黑" panose="020B0503020204020204" pitchFamily="34" charset="-122"/>
                  </a:rPr>
                  <a:t>: distance between courier </a:t>
                </a:r>
                <a:r>
                  <a:rPr lang="en-US" altLang="zh-CN" sz="1200" i="1" dirty="0" smtClean="0">
                    <a:latin typeface="Arial" panose="020B0604020202020204" pitchFamily="34" charset="0"/>
                    <a:ea typeface="微软雅黑" panose="020B0503020204020204" pitchFamily="34" charset="-122"/>
                  </a:rPr>
                  <a:t>i</a:t>
                </a:r>
                <a:r>
                  <a:rPr lang="en-US" altLang="zh-CN" sz="1200" dirty="0" smtClean="0">
                    <a:latin typeface="Arial" panose="020B0604020202020204" pitchFamily="34" charset="0"/>
                    <a:ea typeface="微软雅黑" panose="020B0503020204020204" pitchFamily="34" charset="-122"/>
                  </a:rPr>
                  <a:t> and the origion of order </a:t>
                </a:r>
                <a:r>
                  <a:rPr lang="en-US" altLang="zh-CN" sz="1200" i="1" dirty="0" smtClean="0">
                    <a:latin typeface="Arial" panose="020B0604020202020204" pitchFamily="34" charset="0"/>
                    <a:ea typeface="微软雅黑" panose="020B0503020204020204" pitchFamily="34" charset="-122"/>
                  </a:rPr>
                  <a:t>j</a:t>
                </a:r>
                <a:endParaRPr lang="en-US" altLang="zh-CN" sz="1200" dirty="0" smtClean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pPr marL="285750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altLang="zh-CN" sz="1200" dirty="0" smtClean="0">
                    <a:latin typeface="Arial" panose="020B0604020202020204" pitchFamily="34" charset="0"/>
                    <a:ea typeface="微软雅黑" panose="020B0503020204020204" pitchFamily="34" charset="-122"/>
                  </a:rPr>
                  <a:t>: maximium matching distance</a:t>
                </a:r>
                <a:endParaRPr lang="en-US" altLang="zh-CN" sz="1200" dirty="0" smtClean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pPr marL="285750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𝑤</m:t>
                        </m:r>
                      </m:sup>
                    </m:sSubSup>
                  </m:oMath>
                </a14:m>
                <a:r>
                  <a:rPr lang="en-US" altLang="zh-CN" sz="1200" dirty="0" smtClean="0">
                    <a:latin typeface="Arial" panose="020B0604020202020204" pitchFamily="34" charset="0"/>
                    <a:ea typeface="微软雅黑" panose="020B0503020204020204" pitchFamily="34" charset="-122"/>
                  </a:rPr>
                  <a:t>: indices of orders to be assigned at time </a:t>
                </a:r>
                <a:r>
                  <a:rPr lang="en-US" altLang="zh-CN" sz="1200" i="1" dirty="0" smtClean="0">
                    <a:latin typeface="Arial" panose="020B0604020202020204" pitchFamily="34" charset="0"/>
                    <a:ea typeface="微软雅黑" panose="020B0503020204020204" pitchFamily="34" charset="-122"/>
                  </a:rPr>
                  <a:t>t</a:t>
                </a:r>
                <a:endParaRPr lang="en-US" altLang="zh-CN" sz="1200" dirty="0" smtClean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pPr marL="285750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endParaRPr lang="en-US" altLang="zh-CN" sz="1200" dirty="0" smtClean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4180" y="2256790"/>
                <a:ext cx="4691380" cy="1718310"/>
              </a:xfrm>
              <a:prstGeom prst="rect">
                <a:avLst/>
              </a:prstGeom>
              <a:blipFill rotWithShape="1">
                <a:blip r:embed="rId3"/>
                <a:stretch>
                  <a:fillRect b="-16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7775" y="4230370"/>
            <a:ext cx="3860165" cy="588645"/>
          </a:xfrm>
          <a:prstGeom prst="rect">
            <a:avLst/>
          </a:prstGeom>
        </p:spPr>
      </p:pic>
      <p:sp>
        <p:nvSpPr>
          <p:cNvPr id="27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1585" y="598099"/>
            <a:ext cx="8001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b="1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矩形 46"/>
          <p:cNvSpPr>
            <a:spLocks noChangeArrowheads="1"/>
          </p:cNvSpPr>
          <p:nvPr/>
        </p:nvSpPr>
        <p:spPr bwMode="auto">
          <a:xfrm>
            <a:off x="501585" y="170891"/>
            <a:ext cx="5293995" cy="490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30000"/>
              </a:lnSpc>
              <a:buNone/>
            </a:pPr>
            <a:r>
              <a:rPr lang="en-US" altLang="zh-CN" sz="2000" b="1" dirty="0">
                <a:solidFill>
                  <a:schemeClr val="accent1"/>
                </a:solidFill>
                <a:latin typeface="Arial" panose="020B0604020202020204" pitchFamily="34" charset="0"/>
              </a:rPr>
              <a:t>Solution Methodology for MDP of Platform</a:t>
            </a:r>
            <a:endParaRPr lang="en-US" altLang="zh-CN" sz="20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501650" y="598170"/>
            <a:ext cx="8412480" cy="38252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 smtClean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PPO for Payment Setting</a:t>
            </a:r>
            <a:r>
              <a:rPr lang="en-US" altLang="zh-CN" b="1" dirty="0" smtClean="0"/>
              <a:t>:</a:t>
            </a:r>
            <a:endParaRPr lang="en-US" altLang="zh-CN" b="1" dirty="0"/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200" dirty="0" smtClean="0"/>
              <a:t>Summary: An actor network is employed to directly generate payments for each courier, while a critic network estimates the V-value to guide the updating of the critic network. </a:t>
            </a:r>
            <a:endParaRPr lang="en-US" altLang="zh-CN" sz="1200" dirty="0" smtClean="0"/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200" dirty="0" smtClean="0"/>
              <a:t>Finding: In our scenario, the PPO can directly utilize the Q-network of DDQN as the critic network.</a:t>
            </a:r>
            <a:endParaRPr lang="en-US" altLang="zh-CN" sz="1200" dirty="0" smtClean="0"/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200" dirty="0" smtClean="0"/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200" dirty="0" smtClean="0"/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200" dirty="0" smtClean="0"/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200" dirty="0" smtClean="0"/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200" dirty="0" smtClean="0"/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200" dirty="0" smtClean="0"/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200" dirty="0" smtClean="0"/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200" dirty="0" smtClean="0"/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200" dirty="0" smtClean="0"/>
              <a:t>Training of actor: policy gradient to maximize the objective function</a:t>
            </a:r>
            <a:endParaRPr lang="en-US" altLang="zh-CN" sz="1200" dirty="0" smtClean="0"/>
          </a:p>
          <a:p>
            <a:pPr lvl="1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45" y="1884680"/>
            <a:ext cx="4578350" cy="18446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5603875" y="2531745"/>
                <a:ext cx="3580765" cy="118999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285750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zh-CN" sz="1200" dirty="0" smtClean="0">
                    <a:latin typeface="Arial" panose="020B0604020202020204" pitchFamily="34" charset="0"/>
                    <a:ea typeface="微软雅黑" panose="020B0503020204020204" pitchFamily="34" charset="-122"/>
                  </a:rPr>
                  <a:t>: policy of DDQN (assignment)</a:t>
                </a:r>
                <a:endParaRPr lang="en-US" altLang="zh-CN" sz="1200" dirty="0" smtClean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pPr marL="285750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altLang="zh-CN" sz="1200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ea"/>
                      </a:rPr>
                      <m:t>:</m:t>
                    </m:r>
                  </m:oMath>
                </a14:m>
                <a:r>
                  <a:rPr lang="en-US" altLang="zh-CN" sz="1200" dirty="0" smtClean="0">
                    <a:latin typeface="Arial" panose="020B0604020202020204" pitchFamily="34" charset="0"/>
                    <a:ea typeface="微软雅黑" panose="020B0503020204020204" pitchFamily="34" charset="-122"/>
                  </a:rPr>
                  <a:t> policy of PPO (payment)</a:t>
                </a:r>
                <a:endParaRPr lang="en-US" altLang="zh-CN" sz="1200" dirty="0" smtClean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pPr marL="285750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altLang="zh-CN" sz="1200" dirty="0" smtClean="0">
                    <a:latin typeface="Arial" panose="020B0604020202020204" pitchFamily="34" charset="0"/>
                    <a:ea typeface="微软雅黑" panose="020B0503020204020204" pitchFamily="34" charset="-122"/>
                  </a:rPr>
                  <a:t>: optimal order assignment action of courier </a:t>
                </a:r>
                <a:r>
                  <a:rPr lang="en-US" altLang="zh-CN" sz="1200" i="1" dirty="0" smtClean="0">
                    <a:latin typeface="Arial" panose="020B0604020202020204" pitchFamily="34" charset="0"/>
                    <a:ea typeface="微软雅黑" panose="020B0503020204020204" pitchFamily="34" charset="-122"/>
                  </a:rPr>
                  <a:t>i</a:t>
                </a:r>
                <a:r>
                  <a:rPr lang="en-US" altLang="zh-CN" sz="1200" dirty="0" smtClean="0">
                    <a:latin typeface="Arial" panose="020B0604020202020204" pitchFamily="34" charset="0"/>
                    <a:ea typeface="微软雅黑" panose="020B0503020204020204" pitchFamily="34" charset="-122"/>
                  </a:rPr>
                  <a:t> at </a:t>
                </a:r>
                <a:r>
                  <a:rPr lang="en-US" altLang="zh-CN" sz="1200" i="1" dirty="0" smtClean="0">
                    <a:latin typeface="Arial" panose="020B0604020202020204" pitchFamily="34" charset="0"/>
                    <a:ea typeface="微软雅黑" panose="020B0503020204020204" pitchFamily="34" charset="-122"/>
                  </a:rPr>
                  <a:t>t</a:t>
                </a:r>
                <a:endParaRPr lang="en-US" altLang="zh-CN" sz="1200" i="1" dirty="0" smtClean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3875" y="2531745"/>
                <a:ext cx="3580765" cy="118999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12" name="矩形 46"/>
          <p:cNvSpPr>
            <a:spLocks noChangeArrowheads="1"/>
          </p:cNvSpPr>
          <p:nvPr/>
        </p:nvSpPr>
        <p:spPr bwMode="auto">
          <a:xfrm>
            <a:off x="501585" y="170891"/>
            <a:ext cx="5367020" cy="490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30000"/>
              </a:lnSpc>
              <a:buNone/>
            </a:pPr>
            <a:r>
              <a:rPr lang="en-US" altLang="zh-CN" sz="2000" b="1" dirty="0">
                <a:solidFill>
                  <a:schemeClr val="accent1"/>
                </a:solidFill>
                <a:latin typeface="Arial" panose="020B0604020202020204" pitchFamily="34" charset="0"/>
              </a:rPr>
              <a:t>PPO-KL-CLIP for Platform Payment Setting</a:t>
            </a:r>
            <a:endParaRPr lang="en-US" altLang="zh-CN" sz="20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2" name="TextBox 7"/>
          <p:cNvSpPr txBox="1"/>
          <p:nvPr/>
        </p:nvSpPr>
        <p:spPr>
          <a:xfrm>
            <a:off x="501650" y="586740"/>
            <a:ext cx="8412480" cy="4166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zh-CN" b="1" dirty="0" smtClean="0">
                <a:sym typeface="+mn-ea"/>
              </a:rPr>
              <a:t>Original PPO —— Unstable Chanllenge</a:t>
            </a:r>
            <a:r>
              <a:rPr lang="en-US" altLang="zh-CN" b="1" baseline="30000" dirty="0" smtClean="0">
                <a:sym typeface="+mn-ea"/>
              </a:rPr>
              <a:t>[4,5]</a:t>
            </a:r>
            <a:r>
              <a:rPr lang="en-US" altLang="zh-CN" b="1" dirty="0" smtClean="0">
                <a:sym typeface="+mn-ea"/>
              </a:rPr>
              <a:t>:</a:t>
            </a:r>
            <a:endParaRPr lang="en-US" altLang="zh-CN" b="1" dirty="0"/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 smtClean="0">
                <a:sym typeface="+mn-ea"/>
              </a:rPr>
              <a:t>PPO-CLIP: </a:t>
            </a:r>
            <a:r>
              <a:rPr lang="en-US" altLang="zh-CN" dirty="0" smtClean="0"/>
              <a:t>If new policy θ have already deviated original policy Θ significantly, the gradient becomes 0, preventing the policy from recovering. </a:t>
            </a:r>
            <a:endParaRPr lang="en-US" altLang="zh-CN" dirty="0" smtClean="0"/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PPO-KL: The performance can be influenced by β significantly,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necessitating a balance between KL-restriction and policy updates.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altLang="zh-CN" b="1" dirty="0" smtClean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altLang="zh-CN" b="1" dirty="0" smtClean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altLang="zh-CN" b="1" dirty="0" smtClean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zh-CN" b="1" dirty="0" smtClean="0"/>
              <a:t>Our Solution: PPO-KL-CLIP</a:t>
            </a:r>
            <a:endParaRPr lang="en-US" altLang="zh-CN" b="1" dirty="0" smtClean="0"/>
          </a:p>
          <a:p>
            <a:pPr marL="742950" lvl="1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dirty="0" smtClean="0"/>
              <a:t>inspired by GRPO</a:t>
            </a:r>
            <a:r>
              <a:rPr lang="en-US" altLang="zh-CN" baseline="30000" dirty="0" smtClean="0"/>
              <a:t>[6]</a:t>
            </a:r>
            <a:endParaRPr lang="en-US" altLang="zh-CN" baseline="30000" dirty="0" smtClean="0"/>
          </a:p>
          <a:p>
            <a:pPr marL="742950" lvl="1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dirty="0" smtClean="0"/>
              <a:t>add KL normalization to PPO-CLIP, helping recover the deviated policy.</a:t>
            </a:r>
            <a:endParaRPr lang="en-US" altLang="zh-CN" dirty="0" smtClean="0"/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r="8394" b="32430"/>
          <a:stretch>
            <a:fillRect/>
          </a:stretch>
        </p:blipFill>
        <p:spPr>
          <a:xfrm>
            <a:off x="1207770" y="2329180"/>
            <a:ext cx="3568065" cy="74104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t="70423"/>
          <a:stretch>
            <a:fillRect/>
          </a:stretch>
        </p:blipFill>
        <p:spPr>
          <a:xfrm>
            <a:off x="4775835" y="2376805"/>
            <a:ext cx="4082415" cy="3397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rcRect b="27561"/>
          <a:stretch>
            <a:fillRect/>
          </a:stretch>
        </p:blipFill>
        <p:spPr>
          <a:xfrm>
            <a:off x="1207770" y="4257040"/>
            <a:ext cx="5099685" cy="6096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 l="76310" t="72579"/>
          <a:stretch>
            <a:fillRect/>
          </a:stretch>
        </p:blipFill>
        <p:spPr>
          <a:xfrm>
            <a:off x="6288405" y="4568190"/>
            <a:ext cx="960120" cy="3149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12" name="矩形 46"/>
          <p:cNvSpPr>
            <a:spLocks noChangeArrowheads="1"/>
          </p:cNvSpPr>
          <p:nvPr/>
        </p:nvSpPr>
        <p:spPr bwMode="auto">
          <a:xfrm>
            <a:off x="501585" y="170891"/>
            <a:ext cx="5510530" cy="490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30000"/>
              </a:lnSpc>
              <a:buNone/>
            </a:pPr>
            <a:r>
              <a:rPr lang="en-US" altLang="zh-CN" sz="2000" b="1" dirty="0">
                <a:solidFill>
                  <a:schemeClr val="accent1"/>
                </a:solidFill>
                <a:latin typeface="Arial" panose="020B0604020202020204" pitchFamily="34" charset="0"/>
              </a:rPr>
              <a:t>Solution Methodology for CMAB of Couriers</a:t>
            </a:r>
            <a:endParaRPr lang="en-US" altLang="zh-CN" sz="20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2" name="TextBox 7"/>
          <p:cNvSpPr txBox="1"/>
          <p:nvPr/>
        </p:nvSpPr>
        <p:spPr>
          <a:xfrm>
            <a:off x="501650" y="586740"/>
            <a:ext cx="8412480" cy="30822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Thompson Sampling Method</a:t>
            </a:r>
            <a:r>
              <a:rPr lang="en-US" altLang="zh-CN" b="1" dirty="0" smtClean="0"/>
              <a:t>:</a:t>
            </a:r>
            <a:endParaRPr lang="en-US" altLang="zh-CN" b="1" dirty="0"/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200" dirty="0" smtClean="0"/>
              <a:t>Summary: Utilize a neural network to estimate the reward distribution for each action within a given state.</a:t>
            </a:r>
            <a:endParaRPr lang="en-US" altLang="zh-CN" sz="1200" dirty="0" smtClean="0"/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200" dirty="0" smtClean="0">
                <a:sym typeface="+mn-ea"/>
              </a:rPr>
              <a:t>Utilization</a:t>
            </a:r>
            <a:r>
              <a:rPr lang="en-US" altLang="zh-CN" sz="1200" dirty="0" smtClean="0"/>
              <a:t>: Select the action with the highest reward expectation.</a:t>
            </a:r>
            <a:endParaRPr lang="en-US" altLang="zh-CN" sz="1200" dirty="0" smtClean="0"/>
          </a:p>
          <a:p>
            <a:pPr marL="6286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200" dirty="0" smtClean="0"/>
              <a:t>Training: 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</a:rPr>
              <a:t>Model the reward distribution as a Gaussian distribution and train the network using Maximum Likelihood Estimation (MLE).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385" y="2223135"/>
            <a:ext cx="4640580" cy="53721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215" y="2760345"/>
            <a:ext cx="3248025" cy="56451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1175385" y="3405505"/>
                <a:ext cx="6162675" cy="87503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285750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2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lang="en-US" altLang="zh-CN" sz="1200" dirty="0" smtClean="0">
                    <a:latin typeface="Arial" panose="020B0604020202020204" pitchFamily="34" charset="0"/>
                    <a:ea typeface="微软雅黑" panose="020B0503020204020204" pitchFamily="34" charset="-122"/>
                  </a:rPr>
                  <a:t>:  action index, corresponding to opt-in, opt-out, and exit</a:t>
                </a:r>
                <a:endParaRPr lang="en-US" altLang="zh-CN" sz="1200" dirty="0" smtClean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pPr marL="285750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2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𝑢</m:t>
                    </m:r>
                    <m:r>
                      <a:rPr lang="en-US" altLang="zh-CN" sz="12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altLang="zh-CN" sz="12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altLang="zh-CN" sz="1200" dirty="0" smtClean="0">
                    <a:latin typeface="Arial" panose="020B0604020202020204" pitchFamily="34" charset="0"/>
                    <a:ea typeface="微软雅黑" panose="020B0503020204020204" pitchFamily="34" charset="-122"/>
                  </a:rPr>
                  <a:t>: mean and standard deviation of the estimated reward distribution, respectively </a:t>
                </a:r>
                <a:endParaRPr lang="en-US" altLang="zh-CN" sz="1200" dirty="0" smtClean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pPr marL="285750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2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CN" sz="1200" dirty="0" smtClean="0">
                    <a:latin typeface="Arial" panose="020B0604020202020204" pitchFamily="34" charset="0"/>
                    <a:ea typeface="微软雅黑" panose="020B0503020204020204" pitchFamily="34" charset="-122"/>
                  </a:rPr>
                  <a:t>: experience buffer</a:t>
                </a:r>
                <a:endParaRPr lang="en-US" altLang="zh-CN" sz="1200" dirty="0" smtClean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5385" y="3405505"/>
                <a:ext cx="6162675" cy="87503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14" name="矩形 46"/>
          <p:cNvSpPr>
            <a:spLocks noChangeArrowheads="1"/>
          </p:cNvSpPr>
          <p:nvPr/>
        </p:nvSpPr>
        <p:spPr bwMode="auto">
          <a:xfrm>
            <a:off x="501585" y="170891"/>
            <a:ext cx="3599180" cy="490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30000"/>
              </a:lnSpc>
              <a:buNone/>
            </a:pPr>
            <a:r>
              <a:rPr lang="en-US" altLang="zh-CN" sz="2000" b="1" dirty="0">
                <a:solidFill>
                  <a:schemeClr val="accent1"/>
                </a:solidFill>
                <a:latin typeface="Arial" panose="020B0604020202020204" pitchFamily="34" charset="0"/>
              </a:rPr>
              <a:t>Neural Network Architecture</a:t>
            </a:r>
            <a:endParaRPr lang="zh-CN" altLang="en-US" sz="20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pic>
        <p:nvPicPr>
          <p:cNvPr id="3" name="图片 2" descr="networ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05" y="1158240"/>
            <a:ext cx="4484370" cy="287591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1365" y="971550"/>
            <a:ext cx="4572635" cy="36918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zh-CN" sz="1200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Shared Heterogeneous Encoder</a:t>
            </a:r>
            <a:endParaRPr lang="en-US" altLang="zh-CN" sz="1200" b="1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shared structure enhances the extraction of robust features</a:t>
            </a:r>
            <a:endParaRPr lang="en-US" altLang="zh-CN" sz="12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heterogeneous structure facilitates simultaneous processing of opt-in and opt-out couriers.</a:t>
            </a:r>
            <a:endParaRPr lang="en-US" altLang="zh-CN" sz="12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zh-CN" sz="1200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Triple Decision Heads</a:t>
            </a:r>
            <a:endParaRPr lang="en-US" altLang="zh-CN" sz="1200" b="1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for payment setting, order assignment, and courier long-term choice, respectively</a:t>
            </a:r>
            <a:endParaRPr lang="en-US" altLang="zh-CN" sz="12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zh-CN" sz="1200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Multi-LoRA for Couriers CMAB</a:t>
            </a:r>
            <a:endParaRPr lang="en-US" altLang="zh-CN" sz="1200" b="1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shared encoder enables couriers to understand the platform's strategy</a:t>
            </a:r>
            <a:endParaRPr lang="en-US" altLang="zh-CN" sz="12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multiple lora prevents homogenous strategies among couriers, promoting diverse decision-making</a:t>
            </a:r>
            <a:endParaRPr lang="en-US" altLang="zh-CN" sz="12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14" name="矩形 46"/>
          <p:cNvSpPr>
            <a:spLocks noChangeArrowheads="1"/>
          </p:cNvSpPr>
          <p:nvPr/>
        </p:nvSpPr>
        <p:spPr bwMode="auto">
          <a:xfrm>
            <a:off x="501585" y="170891"/>
            <a:ext cx="2225675" cy="490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l">
              <a:lnSpc>
                <a:spcPct val="130000"/>
              </a:lnSpc>
              <a:buNone/>
            </a:pPr>
            <a:r>
              <a:rPr lang="en-US" altLang="zh-CN" sz="2000" b="1" dirty="0">
                <a:solidFill>
                  <a:schemeClr val="accent1"/>
                </a:solidFill>
                <a:latin typeface="Arial" panose="020B0604020202020204" pitchFamily="34" charset="0"/>
              </a:rPr>
              <a:t>Training Process</a:t>
            </a:r>
            <a:endParaRPr lang="zh-CN" altLang="en-US" sz="2000" b="1" dirty="0" smtClean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pic>
        <p:nvPicPr>
          <p:cNvPr id="3" name="图片 2" descr="mai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" y="833755"/>
            <a:ext cx="4984115" cy="3874770"/>
          </a:xfrm>
          <a:prstGeom prst="rect">
            <a:avLst/>
          </a:prstGeom>
        </p:spPr>
      </p:pic>
      <p:sp>
        <p:nvSpPr>
          <p:cNvPr id="2" name="TextBox 16"/>
          <p:cNvSpPr txBox="1"/>
          <p:nvPr/>
        </p:nvSpPr>
        <p:spPr>
          <a:xfrm>
            <a:off x="5099050" y="833755"/>
            <a:ext cx="4044950" cy="37344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zh-CN" sz="1200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Phase1: Platform Training</a:t>
            </a:r>
            <a:endParaRPr lang="en-US" altLang="zh-CN" sz="1200" b="1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train an </a:t>
            </a:r>
            <a:r>
              <a:rPr lang="en-US" altLang="zh-CN" sz="1200" dirty="0" smtClean="0">
                <a:solidFill>
                  <a:srgbClr val="A40F39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adaptive policy</a:t>
            </a:r>
            <a:r>
              <a:rPr lang="en-US" altLang="zh-CN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that optimally responds to </a:t>
            </a:r>
            <a:r>
              <a:rPr lang="en-US" altLang="zh-CN" sz="1200" dirty="0" smtClean="0">
                <a:solidFill>
                  <a:srgbClr val="2F5597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all possible decisions made by couriers</a:t>
            </a:r>
            <a:endParaRPr lang="en-US" altLang="zh-CN" sz="12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zh-CN" sz="1200" b="1" dirty="0" smtClean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Phase2</a:t>
            </a:r>
            <a:r>
              <a:rPr lang="en-US" altLang="zh-CN" sz="1200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: Couriers Training</a:t>
            </a:r>
            <a:endParaRPr lang="en-US" altLang="zh-CN" sz="1200" b="1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given the </a:t>
            </a:r>
            <a:r>
              <a:rPr lang="en-US" altLang="zh-CN" sz="1200" dirty="0" smtClean="0">
                <a:solidFill>
                  <a:srgbClr val="A40F39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fixed well-trained platform strategy</a:t>
            </a:r>
            <a:r>
              <a:rPr lang="en-US" altLang="zh-CN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, train couriers to </a:t>
            </a:r>
            <a:r>
              <a:rPr lang="en-US" altLang="zh-CN" sz="1200" dirty="0" smtClean="0">
                <a:solidFill>
                  <a:srgbClr val="2F5597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identify the optimal long-term decisions</a:t>
            </a:r>
            <a:r>
              <a:rPr lang="en-US" altLang="zh-CN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aimed at maximizing cumulative earnings</a:t>
            </a:r>
            <a:endParaRPr lang="en-US" altLang="zh-CN" sz="12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46"/>
          <p:cNvSpPr>
            <a:spLocks noChangeArrowheads="1"/>
          </p:cNvSpPr>
          <p:nvPr/>
        </p:nvSpPr>
        <p:spPr bwMode="auto">
          <a:xfrm>
            <a:off x="501585" y="170891"/>
            <a:ext cx="1774825" cy="490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30000"/>
              </a:lnSpc>
              <a:buNone/>
            </a:pPr>
            <a:r>
              <a:rPr lang="en-US" altLang="zh-CN" sz="2000" b="1" dirty="0">
                <a:solidFill>
                  <a:schemeClr val="accent1"/>
                </a:solidFill>
                <a:latin typeface="Arial" panose="020B0604020202020204" pitchFamily="34" charset="0"/>
              </a:rPr>
              <a:t>Case Studies</a:t>
            </a:r>
            <a:endParaRPr lang="en-US" altLang="zh-CN" sz="20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27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1585" y="764495"/>
            <a:ext cx="8206552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q"/>
            </a:pPr>
            <a:r>
              <a:rPr lang="en-US" altLang="zh-CN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Food Delivery in Hong Kong, China</a:t>
            </a:r>
            <a:endParaRPr lang="en-US" altLang="zh-CN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TextBox 5"/>
          <p:cNvSpPr txBox="1"/>
          <p:nvPr/>
        </p:nvSpPr>
        <p:spPr>
          <a:xfrm>
            <a:off x="628585" y="3355295"/>
            <a:ext cx="8206552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q"/>
            </a:pPr>
            <a:r>
              <a:rPr lang="en-US" altLang="zh-CN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Comparative Policies</a:t>
            </a:r>
            <a:endParaRPr lang="en-US" altLang="zh-CN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385" y="3704590"/>
            <a:ext cx="3638550" cy="13989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4650" y="1201420"/>
            <a:ext cx="3590925" cy="2202180"/>
          </a:xfrm>
          <a:prstGeom prst="rect">
            <a:avLst/>
          </a:prstGeom>
        </p:spPr>
      </p:pic>
      <p:pic>
        <p:nvPicPr>
          <p:cNvPr id="2" name="图片 1" descr="delivery_density_ma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995" y="1167765"/>
            <a:ext cx="4533265" cy="2155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1424" t="12521"/>
          <a:stretch>
            <a:fillRect/>
          </a:stretch>
        </p:blipFill>
        <p:spPr>
          <a:xfrm>
            <a:off x="1270" y="661035"/>
            <a:ext cx="3032125" cy="1682115"/>
          </a:xfrm>
          <a:prstGeom prst="rect">
            <a:avLst/>
          </a:prstGeom>
        </p:spPr>
      </p:pic>
      <p:sp>
        <p:nvSpPr>
          <p:cNvPr id="27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8" name="矩形 46"/>
          <p:cNvSpPr>
            <a:spLocks noChangeArrowheads="1"/>
          </p:cNvSpPr>
          <p:nvPr/>
        </p:nvSpPr>
        <p:spPr bwMode="auto">
          <a:xfrm>
            <a:off x="501585" y="170891"/>
            <a:ext cx="1774825" cy="490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30000"/>
              </a:lnSpc>
              <a:buNone/>
            </a:pPr>
            <a:r>
              <a:rPr lang="en-US" altLang="zh-CN" sz="2000" b="1" dirty="0">
                <a:solidFill>
                  <a:schemeClr val="accent1"/>
                </a:solidFill>
                <a:latin typeface="Arial" panose="020B0604020202020204" pitchFamily="34" charset="0"/>
              </a:rPr>
              <a:t>Case Studies</a:t>
            </a:r>
            <a:endParaRPr lang="zh-CN" altLang="en-US" sz="20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pic>
        <p:nvPicPr>
          <p:cNvPr id="2" name="图片 1" descr="2"/>
          <p:cNvPicPr>
            <a:picLocks noChangeAspect="1"/>
          </p:cNvPicPr>
          <p:nvPr/>
        </p:nvPicPr>
        <p:blipFill>
          <a:blip r:embed="rId3"/>
          <a:srcRect t="14541"/>
          <a:stretch>
            <a:fillRect/>
          </a:stretch>
        </p:blipFill>
        <p:spPr>
          <a:xfrm>
            <a:off x="5996305" y="661035"/>
            <a:ext cx="3148965" cy="1682115"/>
          </a:xfrm>
          <a:prstGeom prst="rect">
            <a:avLst/>
          </a:prstGeom>
        </p:spPr>
      </p:pic>
      <p:pic>
        <p:nvPicPr>
          <p:cNvPr id="5" name="图片 4" descr="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1395" t="14042" r="2466"/>
          <a:stretch>
            <a:fillRect/>
          </a:stretch>
        </p:blipFill>
        <p:spPr>
          <a:xfrm>
            <a:off x="3005455" y="655320"/>
            <a:ext cx="2991485" cy="168783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37795" y="2752090"/>
            <a:ext cx="7309485" cy="4883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q"/>
            </a:pPr>
            <a:r>
              <a:rPr lang="en-US" altLang="zh-CN" b="1" dirty="0" smtClean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How platforms discriminate different types of couriers</a:t>
            </a:r>
            <a:r>
              <a:rPr lang="zh-CN" altLang="en-US" b="1" dirty="0" smtClean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？</a:t>
            </a:r>
            <a:endParaRPr lang="zh-CN" altLang="en-US" b="1" dirty="0" smtClean="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q"/>
            </a:pPr>
            <a:endParaRPr lang="zh-CN" altLang="en-US" sz="1400" b="1" dirty="0" smtClean="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37795" y="3173095"/>
            <a:ext cx="4572000" cy="14890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628650" lvl="1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dirty="0" smtClean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For opt-in couriers </a:t>
            </a:r>
            <a:r>
              <a:rPr lang="en-US" altLang="zh-CN" dirty="0" smtClean="0">
                <a:solidFill>
                  <a:srgbClr val="2F5597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(blue curves)</a:t>
            </a:r>
            <a:r>
              <a:rPr lang="en-US" altLang="zh-CN" dirty="0" smtClean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: </a:t>
            </a:r>
            <a:br>
              <a:rPr lang="en-US" altLang="zh-CN" dirty="0" smtClean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</a:b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Higher reservation couriers receive: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1085850" lvl="2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higher unit payments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1085850" lvl="2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lower workloads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1085850" lvl="2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lower total earnings</a:t>
            </a:r>
            <a:endParaRPr lang="en-US" altLang="zh-CN" sz="1400" dirty="0" smtClean="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053840" y="3173095"/>
            <a:ext cx="4495800" cy="16287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628650" lvl="1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For opt-out couriers</a:t>
            </a:r>
            <a:r>
              <a:rPr lang="en-US" altLang="zh-CN" dirty="0" smtClean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(red curves)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:</a:t>
            </a:r>
            <a:b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</a:b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Higher reservation couriers experience: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1085850" lvl="2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higher unit payments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1085850" lvl="2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slightly lower workloads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1085850" lvl="2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similar earnings compaerd to low reservation couriers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342900" lvl="1" indent="0">
              <a:lnSpc>
                <a:spcPct val="130000"/>
              </a:lnSpc>
              <a:buNone/>
            </a:pPr>
            <a:endParaRPr lang="en-US" altLang="zh-CN" sz="1400" i="1" dirty="0" smtClean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TextBox 8"/>
          <p:cNvSpPr txBox="1"/>
          <p:nvPr>
            <p:custDataLst>
              <p:tags r:id="rId6"/>
            </p:custDataLst>
          </p:nvPr>
        </p:nvSpPr>
        <p:spPr>
          <a:xfrm>
            <a:off x="1270" y="2343150"/>
            <a:ext cx="3003550" cy="330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200" smtClean="0">
                <a:latin typeface="Arial" panose="020B0604020202020204" pitchFamily="34" charset="0"/>
                <a:ea typeface="微软雅黑" panose="020B0503020204020204" pitchFamily="34" charset="-122"/>
              </a:rPr>
              <a:t>Unit Payment (payment per minute)</a:t>
            </a:r>
            <a:endParaRPr lang="en-US" sz="12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TextBox 8"/>
          <p:cNvSpPr txBox="1"/>
          <p:nvPr>
            <p:custDataLst>
              <p:tags r:id="rId7"/>
            </p:custDataLst>
          </p:nvPr>
        </p:nvSpPr>
        <p:spPr>
          <a:xfrm>
            <a:off x="3005455" y="2343150"/>
            <a:ext cx="3002280" cy="330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200" smtClean="0">
                <a:latin typeface="Arial" panose="020B0604020202020204" pitchFamily="34" charset="0"/>
                <a:ea typeface="微软雅黑" panose="020B0503020204020204" pitchFamily="34" charset="-122"/>
              </a:rPr>
              <a:t>Total Workload (measured by time)</a:t>
            </a:r>
            <a:endParaRPr lang="en-US" sz="12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TextBox 8"/>
          <p:cNvSpPr txBox="1"/>
          <p:nvPr>
            <p:custDataLst>
              <p:tags r:id="rId8"/>
            </p:custDataLst>
          </p:nvPr>
        </p:nvSpPr>
        <p:spPr>
          <a:xfrm>
            <a:off x="6142990" y="2343150"/>
            <a:ext cx="3002280" cy="330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200" smtClean="0">
                <a:latin typeface="Arial" panose="020B0604020202020204" pitchFamily="34" charset="0"/>
                <a:ea typeface="微软雅黑" panose="020B0503020204020204" pitchFamily="34" charset="-122"/>
              </a:rPr>
              <a:t>Total Earning (whole preiod)</a:t>
            </a:r>
            <a:endParaRPr lang="en-US" sz="12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1650" y="751840"/>
            <a:ext cx="4039235" cy="26098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q"/>
            </a:pPr>
            <a:r>
              <a:rPr lang="en-US" altLang="zh-CN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How DPR affects couriers behavior</a:t>
            </a:r>
            <a:r>
              <a:rPr lang="zh-CN" altLang="en-US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？</a:t>
            </a:r>
            <a:endParaRPr lang="zh-CN" altLang="en-US" b="1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457200" lvl="2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altLang="zh-CN" dirty="0" smtClean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More couriers are attracted to choose opt-out option on the platform, leading to a lower exiting rate. </a:t>
            </a:r>
            <a:endParaRPr lang="en-US" altLang="zh-CN" dirty="0" smtClean="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457200" lvl="2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altLang="zh-CN" dirty="0" smtClean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DPR 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effectively protects the rights of high-reservation couriers, allowing them to choose opt out to access more work opportunities.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q"/>
            </a:pPr>
            <a:endParaRPr lang="en-US" altLang="zh-CN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矩形 46"/>
          <p:cNvSpPr>
            <a:spLocks noChangeArrowheads="1"/>
          </p:cNvSpPr>
          <p:nvPr/>
        </p:nvSpPr>
        <p:spPr bwMode="auto">
          <a:xfrm>
            <a:off x="501585" y="170891"/>
            <a:ext cx="1774825" cy="490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30000"/>
              </a:lnSpc>
              <a:buNone/>
            </a:pPr>
            <a:r>
              <a:rPr lang="en-US" altLang="zh-CN" sz="2000" b="1" dirty="0">
                <a:solidFill>
                  <a:schemeClr val="accent1"/>
                </a:solidFill>
                <a:latin typeface="Arial" panose="020B0604020202020204" pitchFamily="34" charset="0"/>
              </a:rPr>
              <a:t>Case Studies</a:t>
            </a:r>
            <a:endParaRPr lang="zh-CN" altLang="en-US" sz="20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1"/>
          <a:srcRect t="5843"/>
          <a:stretch>
            <a:fillRect/>
          </a:stretch>
        </p:blipFill>
        <p:spPr>
          <a:xfrm>
            <a:off x="5003165" y="207010"/>
            <a:ext cx="4065270" cy="4185285"/>
          </a:xfrm>
          <a:prstGeom prst="rect">
            <a:avLst/>
          </a:prstGeom>
        </p:spPr>
      </p:pic>
      <p:sp>
        <p:nvSpPr>
          <p:cNvPr id="14" name="TextBox 8"/>
          <p:cNvSpPr txBox="1"/>
          <p:nvPr>
            <p:custDataLst>
              <p:tags r:id="rId2"/>
            </p:custDataLst>
          </p:nvPr>
        </p:nvSpPr>
        <p:spPr>
          <a:xfrm>
            <a:off x="5003165" y="4399915"/>
            <a:ext cx="4065270" cy="2781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Proportion of Choices Among Couriers</a:t>
            </a:r>
            <a:endParaRPr lang="en-US" altLang="zh-CN" sz="12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1585" y="752051"/>
            <a:ext cx="8206552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q"/>
            </a:pPr>
            <a:r>
              <a:rPr lang="en-US" altLang="zh-CN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How DPR affects platform profits</a:t>
            </a:r>
            <a:r>
              <a:rPr lang="zh-CN" altLang="en-US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？</a:t>
            </a:r>
            <a:endParaRPr lang="en-US" altLang="zh-CN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矩形 46"/>
          <p:cNvSpPr>
            <a:spLocks noChangeArrowheads="1"/>
          </p:cNvSpPr>
          <p:nvPr/>
        </p:nvSpPr>
        <p:spPr bwMode="auto">
          <a:xfrm>
            <a:off x="501585" y="170891"/>
            <a:ext cx="1774825" cy="490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30000"/>
              </a:lnSpc>
              <a:buNone/>
            </a:pPr>
            <a:r>
              <a:rPr lang="en-US" altLang="zh-CN" sz="2000" b="1" dirty="0">
                <a:solidFill>
                  <a:schemeClr val="accent1"/>
                </a:solidFill>
                <a:latin typeface="Arial" panose="020B0604020202020204" pitchFamily="34" charset="0"/>
              </a:rPr>
              <a:t>Case Studies</a:t>
            </a:r>
            <a:endParaRPr lang="zh-CN" altLang="en-US" sz="20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940" y="1237615"/>
            <a:ext cx="6343015" cy="2628900"/>
          </a:xfrm>
          <a:prstGeom prst="rect">
            <a:avLst/>
          </a:prstGeom>
        </p:spPr>
      </p:pic>
      <p:sp>
        <p:nvSpPr>
          <p:cNvPr id="4" name="TextBox 9"/>
          <p:cNvSpPr txBox="1"/>
          <p:nvPr/>
        </p:nvSpPr>
        <p:spPr>
          <a:xfrm>
            <a:off x="382551" y="3981331"/>
            <a:ext cx="8206552" cy="330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8650" lvl="1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The platform gets higher profits since the increased number of active couriers helps fulfill more orders.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1585" y="752051"/>
            <a:ext cx="8206552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q"/>
            </a:pPr>
            <a:r>
              <a:rPr lang="en-US" altLang="zh-CN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How DPR affects customers satisfication</a:t>
            </a:r>
            <a:r>
              <a:rPr lang="zh-CN" altLang="en-US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？</a:t>
            </a:r>
            <a:endParaRPr lang="en-US" altLang="zh-CN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矩形 46"/>
          <p:cNvSpPr>
            <a:spLocks noChangeArrowheads="1"/>
          </p:cNvSpPr>
          <p:nvPr/>
        </p:nvSpPr>
        <p:spPr bwMode="auto">
          <a:xfrm>
            <a:off x="501585" y="170891"/>
            <a:ext cx="1774825" cy="490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30000"/>
              </a:lnSpc>
              <a:buNone/>
            </a:pPr>
            <a:r>
              <a:rPr lang="en-US" altLang="zh-CN" sz="2000" b="1" dirty="0">
                <a:solidFill>
                  <a:schemeClr val="accent1"/>
                </a:solidFill>
                <a:latin typeface="Arial" panose="020B0604020202020204" pitchFamily="34" charset="0"/>
              </a:rPr>
              <a:t>Case Studies</a:t>
            </a:r>
            <a:endParaRPr lang="zh-CN" altLang="en-US" sz="20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955" y="1122680"/>
            <a:ext cx="6245860" cy="2683510"/>
          </a:xfrm>
          <a:prstGeom prst="rect">
            <a:avLst/>
          </a:prstGeom>
        </p:spPr>
      </p:pic>
      <p:sp>
        <p:nvSpPr>
          <p:cNvPr id="5" name="TextBox 9"/>
          <p:cNvSpPr txBox="1"/>
          <p:nvPr/>
        </p:nvSpPr>
        <p:spPr>
          <a:xfrm>
            <a:off x="382551" y="3981331"/>
            <a:ext cx="8206552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12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Customers get better experience 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</a:rPr>
              <a:t>due to the increased number of active couriers, which allows the platform to optimize planning better, leading to a lower order delivery times.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46"/>
          <p:cNvSpPr>
            <a:spLocks noChangeArrowheads="1"/>
          </p:cNvSpPr>
          <p:nvPr/>
        </p:nvSpPr>
        <p:spPr bwMode="auto">
          <a:xfrm>
            <a:off x="376929" y="1835662"/>
            <a:ext cx="8037383" cy="669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lnSpc>
                <a:spcPct val="130000"/>
              </a:lnSpc>
              <a:buNone/>
            </a:pPr>
            <a:r>
              <a:rPr lang="en-US" altLang="zh-CN" b="1" dirty="0" smtClean="0">
                <a:solidFill>
                  <a:srgbClr val="002060"/>
                </a:solidFill>
                <a:latin typeface="Arial" panose="020B0604020202020204" pitchFamily="34" charset="0"/>
              </a:rPr>
              <a:t>Thanks for your attention!</a:t>
            </a:r>
            <a:endParaRPr lang="en-US" altLang="zh-CN" b="1" dirty="0">
              <a:solidFill>
                <a:srgbClr val="002060"/>
              </a:solidFill>
              <a:latin typeface="Arial" panose="020B0604020202020204" pitchFamily="34" charset="0"/>
            </a:endParaRPr>
          </a:p>
        </p:txBody>
      </p:sp>
      <p:sp>
        <p:nvSpPr>
          <p:cNvPr id="84" name="矩形 46"/>
          <p:cNvSpPr>
            <a:spLocks noChangeArrowheads="1"/>
          </p:cNvSpPr>
          <p:nvPr/>
        </p:nvSpPr>
        <p:spPr bwMode="auto">
          <a:xfrm>
            <a:off x="2918578" y="3033598"/>
            <a:ext cx="2886710" cy="1031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altLang="zh-CN" sz="1800" b="1" dirty="0">
                <a:solidFill>
                  <a:schemeClr val="accent1"/>
                </a:solidFill>
                <a:latin typeface="Arial" panose="020B0604020202020204" pitchFamily="34" charset="0"/>
              </a:rPr>
              <a:t>Presented by </a:t>
            </a:r>
            <a:r>
              <a:rPr lang="en-US" altLang="zh-CN" sz="18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Zijian Zhao</a:t>
            </a:r>
            <a:endParaRPr lang="en-US" altLang="zh-CN" sz="1800" b="1" dirty="0">
              <a:solidFill>
                <a:schemeClr val="accent1"/>
              </a:solidFill>
              <a:latin typeface="Arial" panose="020B0604020202020204" pitchFamily="34" charset="0"/>
            </a:endParaRPr>
          </a:p>
          <a:p>
            <a:pPr algn="ctr">
              <a:buNone/>
            </a:pPr>
            <a:endParaRPr lang="en-US" altLang="zh-CN" sz="1800" b="1" dirty="0">
              <a:solidFill>
                <a:schemeClr val="accent1"/>
              </a:solidFill>
              <a:latin typeface="Arial" panose="020B0604020202020204" pitchFamily="34" charset="0"/>
            </a:endParaRPr>
          </a:p>
          <a:p>
            <a:pPr algn="ctr">
              <a:buNone/>
            </a:pPr>
            <a:endParaRPr lang="zh-CN" altLang="en-US" sz="18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929" y="308796"/>
            <a:ext cx="1807695" cy="5784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246.10031496062987,&quot;left&quot;:0.1,&quot;top&quot;:51.6,&quot;width&quot;:757.1528346456694}"/>
</p:tagLst>
</file>

<file path=ppt/tags/tag2.xml><?xml version="1.0" encoding="utf-8"?>
<p:tagLst xmlns:p="http://schemas.openxmlformats.org/presentationml/2006/main">
  <p:tag name="KSO_WM_DIAGRAM_VIRTUALLY_FRAME" val="{&quot;height&quot;:246.10031496062987,&quot;left&quot;:0.1,&quot;top&quot;:51.6,&quot;width&quot;:757.1528346456694}"/>
</p:tagLst>
</file>

<file path=ppt/tags/tag3.xml><?xml version="1.0" encoding="utf-8"?>
<p:tagLst xmlns:p="http://schemas.openxmlformats.org/presentationml/2006/main">
  <p:tag name="KSO_WM_DIAGRAM_VIRTUALLY_FRAME" val="{&quot;height&quot;:246.10031496062987,&quot;left&quot;:0.1,&quot;top&quot;:51.6,&quot;width&quot;:757.1528346456694}"/>
</p:tagLst>
</file>

<file path=ppt/tags/tag4.xml><?xml version="1.0" encoding="utf-8"?>
<p:tagLst xmlns:p="http://schemas.openxmlformats.org/presentationml/2006/main">
  <p:tag name="KSO_WM_DIAGRAM_VIRTUALLY_FRAME" val="{&quot;height&quot;:246.10031496062987,&quot;left&quot;:0.1,&quot;top&quot;:51.6,&quot;width&quot;:757.1528346456694}"/>
</p:tagLst>
</file>

<file path=ppt/tags/tag5.xml><?xml version="1.0" encoding="utf-8"?>
<p:tagLst xmlns:p="http://schemas.openxmlformats.org/presentationml/2006/main">
  <p:tag name="KSO_WM_DIAGRAM_VIRTUALLY_FRAME" val="{&quot;height&quot;:246.10031496062987,&quot;left&quot;:0.1,&quot;top&quot;:51.6,&quot;width&quot;:757.1528346456694}"/>
</p:tagLst>
</file>

<file path=ppt/tags/tag6.xml><?xml version="1.0" encoding="utf-8"?>
<p:tagLst xmlns:p="http://schemas.openxmlformats.org/presentationml/2006/main">
  <p:tag name="KSO_WM_DIAGRAM_VIRTUALLY_FRAME" val="{&quot;height&quot;:246.10031496062987,&quot;left&quot;:0.1,&quot;top&quot;:51.6,&quot;width&quot;:757.1528346456694}"/>
</p:tagLst>
</file>

<file path=ppt/tags/tag7.xml><?xml version="1.0" encoding="utf-8"?>
<p:tagLst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A000120140530A99PPBG">
  <a:themeElements>
    <a:clrScheme name="自定义 95">
      <a:dk1>
        <a:sysClr val="windowText" lastClr="000000"/>
      </a:dk1>
      <a:lt1>
        <a:sysClr val="window" lastClr="FFFFFF"/>
      </a:lt1>
      <a:dk2>
        <a:srgbClr val="3F3F3F"/>
      </a:dk2>
      <a:lt2>
        <a:srgbClr val="E3DED1"/>
      </a:lt2>
      <a:accent1>
        <a:srgbClr val="071F65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9925</Words>
  <Application>WPS 演示</Application>
  <PresentationFormat>On-screen Show (16:9)</PresentationFormat>
  <Paragraphs>271</Paragraphs>
  <Slides>21</Slides>
  <Notes>20</Notes>
  <HiddenSlides>1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Arial Black</vt:lpstr>
      <vt:lpstr>Wingdings 2</vt:lpstr>
      <vt:lpstr>Wingdings</vt:lpstr>
      <vt:lpstr>幼圆</vt:lpstr>
      <vt:lpstr>Calibri</vt:lpstr>
      <vt:lpstr>Cambria Math</vt:lpstr>
      <vt:lpstr>MS Mincho</vt:lpstr>
      <vt:lpstr>Segoe Print</vt:lpstr>
      <vt:lpstr>Arial Unicode MS</vt:lpstr>
      <vt:lpstr>A000120140530A99PPBG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号百公司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Titan</dc:creator>
  <cp:lastModifiedBy>赵子健</cp:lastModifiedBy>
  <cp:revision>783</cp:revision>
  <cp:lastPrinted>2023-09-13T13:29:00Z</cp:lastPrinted>
  <dcterms:created xsi:type="dcterms:W3CDTF">2014-06-03T07:56:00Z</dcterms:created>
  <dcterms:modified xsi:type="dcterms:W3CDTF">2025-12-04T06:45:43Z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791DBB856C1143E0A91DF5700A402977_12</vt:lpwstr>
  </property>
  <property fmtid="{D5CDD505-2E9C-101B-9397-08002B2CF9AE}" pid="3" name="KSOProductBuildVer">
    <vt:lpwstr>2052-12.1.0.23542</vt:lpwstr>
  </property>
</Properties>
</file>